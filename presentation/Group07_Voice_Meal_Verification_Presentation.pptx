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11"/>
    <p:sldId id="280" r:id="rId10"/>
    <p:sldId id="281" r:id="rId9"/>
    <p:sldId id="282" r:id="rId8"/>
    <p:sldId id="283" r:id="rId7"/>
    <p:sldId id="284" r:id="rId6"/>
    <p:sldId id="285" r:id="rId5"/>
    <p:sldId id="286" r:id="rId4"/>
    <p:sldId id="287" r:id="rId3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5153"/>
  </p:normalViewPr>
  <p:slideViewPr>
    <p:cSldViewPr snapToGrid="0" snapToObjects="1">
      <p:cViewPr varScale="1">
        <p:scale>
          <a:sx n="61" d="100"/>
          <a:sy n="61" d="100"/>
        </p:scale>
        <p:origin x="39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2.xml"/><Relationship Id="rId4" Type="http://schemas.openxmlformats.org/officeDocument/2006/relationships/slide" Target="slides/slide31.xml"/><Relationship Id="rId5" Type="http://schemas.openxmlformats.org/officeDocument/2006/relationships/slide" Target="slides/slide30.xml"/><Relationship Id="rId6" Type="http://schemas.openxmlformats.org/officeDocument/2006/relationships/slide" Target="slides/slide29.xml"/><Relationship Id="rId7" Type="http://schemas.openxmlformats.org/officeDocument/2006/relationships/slide" Target="slides/slide28.xml"/><Relationship Id="rId8" Type="http://schemas.openxmlformats.org/officeDocument/2006/relationships/slide" Target="slides/slide27.xml"/><Relationship Id="rId9" Type="http://schemas.openxmlformats.org/officeDocument/2006/relationships/slide" Target="slides/slide26.xml"/><Relationship Id="rId10" Type="http://schemas.openxmlformats.org/officeDocument/2006/relationships/slide" Target="slides/slide25.xml"/><Relationship Id="rId11" Type="http://schemas.openxmlformats.org/officeDocument/2006/relationships/slide" Target="slides/slide24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customXml" Target="../customXml/item1.xml"/><Relationship Id="rId41" Type="http://schemas.openxmlformats.org/officeDocument/2006/relationships/customXml" Target="../customXml/item2.xml"/><Relationship Id="rId42" Type="http://schemas.openxmlformats.org/officeDocument/2006/relationships/customXml" Target="../customXml/item3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Seniors' baseline (VQ)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Sheet1!$A$2:$A$4</c:f>
              <c:strCache>
                <c:ptCount val="3"/>
                <c:pt idx="0">
                  <c:v>Genuine accepted, same mic</c:v>
                </c:pt>
                <c:pt idx="1">
                  <c:v>Genuine accepted, other mic</c:v>
                </c:pt>
                <c:pt idx="2">
                  <c:v>Unknown speaker accepted (lower = better)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87.9</c:v>
                </c:pt>
                <c:pt idx="1">
                  <c:v>25.9</c:v>
                </c:pt>
                <c:pt idx="2">
                  <c:v>15.4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v4.1.4</c:v>
                </c:pt>
              </c:strCache>
            </c:strRef>
          </c:tx>
          <c:spPr>
            <a:solidFill>
              <a:srgbClr val="F4B183"/>
            </a:solidFill>
          </c:spPr>
          <c:cat>
            <c:strRef>
              <c:f>Sheet1!$A$2:$A$4</c:f>
              <c:strCache>
                <c:ptCount val="3"/>
                <c:pt idx="0">
                  <c:v>Genuine accepted, same mic</c:v>
                </c:pt>
                <c:pt idx="1">
                  <c:v>Genuine accepted, other mic</c:v>
                </c:pt>
                <c:pt idx="2">
                  <c:v>Unknown speaker accepted (lower = better)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84.5</c:v>
                </c:pt>
                <c:pt idx="1">
                  <c:v>7.4</c:v>
                </c:pt>
                <c:pt idx="2">
                  <c:v>1.7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v4.1.4_claude (v1.1)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Sheet1!$A$2:$A$4</c:f>
              <c:strCache>
                <c:ptCount val="3"/>
                <c:pt idx="0">
                  <c:v>Genuine accepted, same mic</c:v>
                </c:pt>
                <c:pt idx="1">
                  <c:v>Genuine accepted, other mic</c:v>
                </c:pt>
                <c:pt idx="2">
                  <c:v>Unknown speaker accepted (lower = better)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100.0</c:v>
                </c:pt>
                <c:pt idx="1">
                  <c:v>85.2</c:v>
                </c:pt>
                <c:pt idx="2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5E5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12/06/2023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en-BD" smtClean="0"/>
              <a:t>06/12/2023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Voice-Based Meal Verification System for Hall Dining</a:t>
            </a:r>
            <a:endParaRPr lang="en-B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9C879-EF2D-BA4E-B6A9-D4377737278E}"/>
              </a:ext>
            </a:extLst>
          </p:cNvPr>
          <p:cNvSpPr/>
          <p:nvPr userDrawn="1"/>
        </p:nvSpPr>
        <p:spPr>
          <a:xfrm>
            <a:off x="0" y="0"/>
            <a:ext cx="12192000" cy="15622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D" sz="2400" dirty="0">
                <a:latin typeface="Arial" panose="020B0604020202020204" pitchFamily="34" charset="0"/>
                <a:cs typeface="Arial" panose="020B0604020202020204" pitchFamily="34" charset="0"/>
              </a:rPr>
              <a:t>EEE 312 – Digital Signal Processing I Laboratory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D" sz="2800" dirty="0">
                <a:latin typeface="Arial" panose="020B0604020202020204" pitchFamily="34" charset="0"/>
                <a:cs typeface="Arial" panose="020B0604020202020204" pitchFamily="34" charset="0"/>
              </a:rPr>
              <a:t>Level-3 Term-I  ·  Section C1  ·  2026</a:t>
            </a:r>
            <a:endParaRPr lang="en-BD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BD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99C6A4-662A-4C47-AB70-4A7A449F40AE}"/>
              </a:ext>
            </a:extLst>
          </p:cNvPr>
          <p:cNvSpPr/>
          <p:nvPr userDrawn="1"/>
        </p:nvSpPr>
        <p:spPr>
          <a:xfrm>
            <a:off x="0" y="5968657"/>
            <a:ext cx="12192000" cy="8893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865755" algn="ctr"/>
                <a:tab pos="5731510" algn="r"/>
              </a:tabLst>
            </a:pPr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Bangladesh University of Engineering and Technology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Department of Electrical and Electronic Engineering</a:t>
            </a:r>
            <a:endParaRPr lang="en-BD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B5FDC4-269D-0A46-8DED-E482158D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048"/>
          <a:stretch/>
        </p:blipFill>
        <p:spPr>
          <a:xfrm>
            <a:off x="1682496" y="6046044"/>
            <a:ext cx="793630" cy="7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BD"/>
              <a:t>Voice-Based Meal Verification System for Hall Dining</a:t>
            </a:r>
            <a:endParaRPr lang="en-BD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7A532869-E847-B04C-9454-B1BBC68D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9C3B094-71D1-654C-855E-07B8BFC1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</p:spTree>
    <p:extLst>
      <p:ext uri="{BB962C8B-B14F-4D97-AF65-F5344CB8AC3E}">
        <p14:creationId xmlns:p14="http://schemas.microsoft.com/office/powerpoint/2010/main" val="423745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3AA596F9-6385-224E-8B6A-50967833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1CB05F73-B36B-5A48-81EA-E76B135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</p:spTree>
    <p:extLst>
      <p:ext uri="{BB962C8B-B14F-4D97-AF65-F5344CB8AC3E}">
        <p14:creationId xmlns:p14="http://schemas.microsoft.com/office/powerpoint/2010/main" val="31840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A8BE3A-860F-304A-9628-0D1C6721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F763A-9E9F-6745-958E-87128C40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</p:spTree>
    <p:extLst>
      <p:ext uri="{BB962C8B-B14F-4D97-AF65-F5344CB8AC3E}">
        <p14:creationId xmlns:p14="http://schemas.microsoft.com/office/powerpoint/2010/main" val="14482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en-BD" smtClean="0"/>
              <a:t>‹#›</a:t>
            </a:fld>
            <a:endParaRPr lang="en-BD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7E522AF0-01E9-C04B-A4BD-1E790BA6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6FE88DDB-FE65-5846-A692-EED395E9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</p:spTree>
    <p:extLst>
      <p:ext uri="{BB962C8B-B14F-4D97-AF65-F5344CB8AC3E}">
        <p14:creationId xmlns:p14="http://schemas.microsoft.com/office/powerpoint/2010/main" val="39704782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2.png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52ED7D-C8C9-FC45-9D41-2B197068D5F8}"/>
              </a:ext>
            </a:extLst>
          </p:cNvPr>
          <p:cNvSpPr/>
          <p:nvPr userDrawn="1"/>
        </p:nvSpPr>
        <p:spPr>
          <a:xfrm>
            <a:off x="1" y="6457189"/>
            <a:ext cx="12192000" cy="413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93520"/>
            <a:ext cx="10058400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50" y="6501638"/>
            <a:ext cx="521970" cy="3085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E9C29D53-9981-884B-B5B6-B5743DF81FD1}" type="slidenum">
              <a:rPr lang="en-BD" smtClean="0"/>
              <a:pPr/>
              <a:t>‹#›</a:t>
            </a:fld>
            <a:endParaRPr lang="en-BD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D083A58-BF4A-C247-A39E-31621332A2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r="84048"/>
          <a:stretch/>
        </p:blipFill>
        <p:spPr>
          <a:xfrm>
            <a:off x="51125" y="6457189"/>
            <a:ext cx="381361" cy="352979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486" y="6501637"/>
            <a:ext cx="3968064" cy="3941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EEE 312 (2026) – Final Project Group 07 (C1)</a:t>
            </a:r>
            <a:endParaRPr lang="en-BD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0550" y="6507645"/>
            <a:ext cx="5000625" cy="37541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BD" dirty="0"/>
              <a:t>Voice-Based Meal Verification System for Hall Dining</a:t>
            </a:r>
          </a:p>
        </p:txBody>
      </p:sp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3" r:id="rId3"/>
    <p:sldLayoutId id="2147483714" r:id="rId4"/>
    <p:sldLayoutId id="2147483715" r:id="rId5"/>
    <p:sldLayoutId id="214748371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UILD &amp; CODE: Elegoo Arduino starter kit servo, LED, and ...">
            <a:extLst>
              <a:ext uri="{FF2B5EF4-FFF2-40B4-BE49-F238E27FC236}">
                <a16:creationId xmlns:a16="http://schemas.microsoft.com/office/drawing/2014/main" id="{AEDB557B-883F-B642-8577-6498598B7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alphaModFix amt="2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3357" y="1531835"/>
            <a:ext cx="12188825" cy="44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6C925-AD3C-084C-A393-173805EA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940" y="1775977"/>
            <a:ext cx="9068586" cy="1580405"/>
          </a:xfrm>
        </p:spPr>
        <p:txBody>
          <a:bodyPr/>
          <a:lstStyle/>
          <a:p>
            <a:r>
              <a:rPr lang="en-BD" sz="4000" cap="none" dirty="0">
                <a:latin typeface="Arial Black" panose="020B0A04020102020204" pitchFamily="34" charset="0"/>
              </a:rPr>
              <a:t>Voice-Based Meal Verification System for Hall Dining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0DBAF-7D79-1641-9F57-35E40E2F3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1175" y="5326165"/>
            <a:ext cx="2350475" cy="885432"/>
          </a:xfrm>
        </p:spPr>
        <p:txBody>
          <a:bodyPr/>
          <a:lstStyle/>
          <a:p>
            <a:r>
              <a:rPr lang="en-BD" sz="1200" dirty="0" b="1"/>
              <a:t>Samin Zahan Khan</a:t>
            </a:r>
          </a:p>
          <a:p>
            <a:r>
              <a:rPr lang="en-BD" sz="2000" dirty="0"/>
              <a:t>2206135</a:t>
            </a:r>
          </a:p>
        </p:txBody>
      </p:sp>
      <p:pic>
        <p:nvPicPr>
          <p:cNvPr id="1026" name="Picture 2" descr="We Get Your Visa for Iran - Visa on Arrival | AriaMedTour">
            <a:extLst>
              <a:ext uri="{FF2B5EF4-FFF2-40B4-BE49-F238E27FC236}">
                <a16:creationId xmlns:a16="http://schemas.microsoft.com/office/drawing/2014/main" id="{3858C5C2-70BE-814B-8762-8829283F2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05818" y="3982702"/>
            <a:ext cx="1343463" cy="13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73D65FC9-0D80-444D-8239-028EF0E63ED0}"/>
              </a:ext>
            </a:extLst>
          </p:cNvPr>
          <p:cNvSpPr txBox="1">
            <a:spLocks/>
          </p:cNvSpPr>
          <p:nvPr/>
        </p:nvSpPr>
        <p:spPr>
          <a:xfrm>
            <a:off x="3863924" y="5326165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sz="1200" b="1"/>
              <a:t>Syed Ibnul Morshed</a:t>
            </a:r>
          </a:p>
          <a:p>
            <a:r>
              <a:rPr lang="en-BD" sz="2000"/>
              <a:t>2206141</a:t>
            </a:r>
            <a:endParaRPr lang="en-BD" sz="2000" dirty="0"/>
          </a:p>
        </p:txBody>
      </p:sp>
      <p:pic>
        <p:nvPicPr>
          <p:cNvPr id="6" name="Picture 2" descr="We Get Your Visa for Iran - Visa on Arrival | AriaMedTour">
            <a:extLst>
              <a:ext uri="{FF2B5EF4-FFF2-40B4-BE49-F238E27FC236}">
                <a16:creationId xmlns:a16="http://schemas.microsoft.com/office/drawing/2014/main" id="{8C1E2448-7174-D146-87EA-2E00E125D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78567" y="3982702"/>
            <a:ext cx="1343463" cy="13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185C57D-A765-0B46-AE76-AD4244F426AB}"/>
              </a:ext>
            </a:extLst>
          </p:cNvPr>
          <p:cNvSpPr txBox="1">
            <a:spLocks/>
          </p:cNvSpPr>
          <p:nvPr/>
        </p:nvSpPr>
        <p:spPr>
          <a:xfrm>
            <a:off x="6117109" y="5333200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sz="1100" b="1"/>
              <a:t>S M Sindid Islam Mahodi</a:t>
            </a:r>
          </a:p>
          <a:p>
            <a:r>
              <a:rPr lang="en-BD" sz="2000"/>
              <a:t>2206147</a:t>
            </a:r>
            <a:endParaRPr lang="en-BD" sz="2000" dirty="0"/>
          </a:p>
        </p:txBody>
      </p:sp>
      <p:pic>
        <p:nvPicPr>
          <p:cNvPr id="8" name="Picture 2" descr="We Get Your Visa for Iran - Visa on Arrival | AriaMedTour">
            <a:extLst>
              <a:ext uri="{FF2B5EF4-FFF2-40B4-BE49-F238E27FC236}">
                <a16:creationId xmlns:a16="http://schemas.microsoft.com/office/drawing/2014/main" id="{9DBEAE45-EACB-644E-B57B-BF1FCD177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31752" y="3989737"/>
            <a:ext cx="1343463" cy="13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C7A885CF-D2B7-2D4F-9C5B-F2B757DB520C}"/>
              </a:ext>
            </a:extLst>
          </p:cNvPr>
          <p:cNvSpPr txBox="1">
            <a:spLocks/>
          </p:cNvSpPr>
          <p:nvPr/>
        </p:nvSpPr>
        <p:spPr>
          <a:xfrm>
            <a:off x="8490051" y="5323751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sz="1200" b="1"/>
              <a:t>Abdullah Al Rohan</a:t>
            </a:r>
          </a:p>
          <a:p>
            <a:r>
              <a:rPr lang="en-BD" sz="2000"/>
              <a:t>2206150</a:t>
            </a:r>
            <a:endParaRPr lang="en-BD" sz="2000" dirty="0"/>
          </a:p>
        </p:txBody>
      </p:sp>
      <p:pic>
        <p:nvPicPr>
          <p:cNvPr id="10" name="Picture 2" descr="We Get Your Visa for Iran - Visa on Arrival | AriaMedTour">
            <a:extLst>
              <a:ext uri="{FF2B5EF4-FFF2-40B4-BE49-F238E27FC236}">
                <a16:creationId xmlns:a16="http://schemas.microsoft.com/office/drawing/2014/main" id="{1D1BDD9D-1AC6-D545-AED6-677086890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04694" y="3980288"/>
            <a:ext cx="1343463" cy="134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6D4ABD83-8F2E-FD4E-B18C-2299D6E2E152}"/>
              </a:ext>
            </a:extLst>
          </p:cNvPr>
          <p:cNvSpPr txBox="1">
            <a:spLocks/>
          </p:cNvSpPr>
          <p:nvPr/>
        </p:nvSpPr>
        <p:spPr>
          <a:xfrm>
            <a:off x="3355848" y="3554820"/>
            <a:ext cx="5486400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D" cap="small" dirty="0"/>
              <a:t>Submitted by – Group 07 (Section C1)</a:t>
            </a:r>
            <a:endParaRPr lang="en-BD" sz="2800" cap="small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74ABDA-11C0-7C43-8041-3445AA68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6919" y="5631180"/>
            <a:ext cx="2111881" cy="228600"/>
          </a:xfrm>
        </p:spPr>
        <p:txBody>
          <a:bodyPr/>
          <a:lstStyle/>
          <a:p>
            <a:fld id="{E9C29D53-9981-884B-B5B6-B5743DF81FD1}" type="slidenum">
              <a:rPr lang="en-BD" smtClean="0"/>
              <a:t>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Outline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69164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69164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39" y="194767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19476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39" y="265176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Summary / Abstract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9816" y="169164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9816" y="169164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64408" y="194767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9476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65176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9784" y="169164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4" y="169164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94376" y="194767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4376" y="19476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65176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Design: theory, mathematics, algorithms,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9752" y="169164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59752" y="169164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24344" y="194767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24344" y="19476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265176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Implementation and demonstration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69164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69164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54312" y="194767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19476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265176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Design analysis and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9848" y="393192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9848" y="393192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34439" y="418795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39" y="41879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39" y="489204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Reflection on individual and team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99816" y="393192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99816" y="393192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64408" y="418795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64408" y="41879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489204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Communication to stakeholders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9784" y="393192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29784" y="393192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94376" y="418795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94376" y="41879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6" y="489204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Project management and cost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59752" y="393192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59752" y="393192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24344" y="418795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24344" y="41879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24344" y="489204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20" y="3931920"/>
            <a:ext cx="1874519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9720" y="3931920"/>
            <a:ext cx="1874519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54312" y="418795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54312" y="41879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54312" y="489204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1. Summary / Abstract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5806440" cy="2788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touchless hall-dining counter in MATLAB: a student says his Student ID and full name; the system decides who spoke, checks the monthly roster and the meal window, and logs the meal.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Starting point: the seniors' "Hall Entry" baseline (44.1 kHz, 8-codeword VQ). Our v4.1.4 refused most genuine students in the hall (e.g. 2206147).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v4.1.4_claude needs two independent kinds of evidence: WHAT was said (DTW on roll number + name) and WHO said it (GMM-UBM voice).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It names the likely imposter and blocks recordings with a random 3-digit challenge and a replay memory.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481328"/>
            <a:ext cx="201168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1481328"/>
            <a:ext cx="2011680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6328" y="162763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98.3 %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322576"/>
            <a:ext cx="173736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genuine accepted, all mics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16567" y="1481328"/>
            <a:ext cx="201168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16567" y="1481328"/>
            <a:ext cx="2011680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62763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0/116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322576"/>
            <a:ext cx="173736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unknown speakers accepted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9168" y="2898648"/>
            <a:ext cx="201168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59168" y="2898648"/>
            <a:ext cx="2011680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8" y="304495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739896"/>
            <a:ext cx="173736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demo attack cases correct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2898648"/>
            <a:ext cx="201168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16567" y="2898648"/>
            <a:ext cx="2011680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304495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0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739896"/>
            <a:ext cx="1737360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replays passed the challenge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" y="4434840"/>
            <a:ext cx="3255264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9848" y="4434840"/>
            <a:ext cx="64008" cy="1783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71016" y="454456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Signal conditioning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1016" y="5001768"/>
            <a:ext cx="2926080" cy="112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8 kHz rational resampling, spectral subtraction, speech mask, MFCC + Δ with CMVN (removes the microphone).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71416" y="4434840"/>
            <a:ext cx="3255264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71416" y="4434840"/>
            <a:ext cx="64008" cy="1783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4" y="454456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Two-evidence identity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4" y="5001768"/>
            <a:ext cx="2926080" cy="112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Every take enrolled; cohort-normalised DTW for the words + 64-mixture GMM-UBM for the voice; one fused decision.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72983" y="4434840"/>
            <a:ext cx="3255264" cy="1783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72983" y="4434840"/>
            <a:ext cx="64008" cy="1783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454456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Security layers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5001768"/>
            <a:ext cx="2926080" cy="1124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Imposter identification, 3-digit challenge with 27 decoys, splice guard, replay memory, sub-200 Hz advisory.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2. Introduction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57607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Problem: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hall dining uses paper meal cards and a manual register. Cards are shared, lost and traded, and proxy meals drain the hall's budget.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Idea: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student's own voice is the meal card — nothing to carry, nothing to touch.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Seniors' baseline: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fixed 3 s recording, 12 MFCC+Δ+ΔΔ, one 8-codeword VQ codebook per phrase; accept when the nearest ID and name codebooks agree. No threshold, no noise or channel normalisation, no anti-spoofing, no meal logic.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Our v4.1.4: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added resampling, spectral subtraction, endpointing, DTW and the dining rules, but in the hall it refused most live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481328"/>
            <a:ext cx="39959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0" y="1481328"/>
            <a:ext cx="39959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627632"/>
            <a:ext cx="37216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8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25.9 %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322576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seniors' baseline: genuine students accepted on a different microphone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054096"/>
            <a:ext cx="39959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3054096"/>
            <a:ext cx="39959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00400"/>
            <a:ext cx="37216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8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15.4 %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895344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seniors' baseline: unknown (not enrolled) speakers accepted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4626864"/>
            <a:ext cx="3995928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4626864"/>
            <a:ext cx="39959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773168"/>
            <a:ext cx="37216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8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74 %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468112"/>
            <a:ext cx="37216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our v4.1.4: live attempts refused (48/65, VerificationAttempts.csv)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4800600"/>
            <a:ext cx="5760720" cy="14173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39" y="4855464"/>
            <a:ext cx="5431536" cy="1307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Design goal: accept every enrolled student on any microphone, refuse strangers, name the imposter, and refuse recordings — using only DSP taught in EEE 311/312.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3.1 Design: Problem Formulation (PO(b))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3.1.1 Identification of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783080"/>
            <a:ext cx="4956048" cy="21214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83080"/>
            <a:ext cx="64008" cy="21214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1016" y="1892807"/>
            <a:ext cx="4626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Users and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2350008"/>
            <a:ext cx="4626864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32 enrolled students (2206131–2206164).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Spoken roll number + full name, 3–15 takes each; isolated digits 0–9.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Three microphones: the database mic, a second USB microphone and our laptop mic.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4956048" cy="21214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64008" cy="21214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92807"/>
            <a:ext cx="4626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350008"/>
            <a:ext cx="4626864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Proxy student speaks for a friend (imposter).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phone replays a friend's recording.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stored enrolment file is injected digitally.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4050791"/>
            <a:ext cx="4956048" cy="21214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" y="4050791"/>
            <a:ext cx="64008" cy="21214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1016" y="4160520"/>
            <a:ext cx="4626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4617720"/>
            <a:ext cx="4626864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Software only: existing laptop / hall PC and microphone.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few seconds per student at a busy counter.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Noisy dining hall, any microphone, Bangla and English names.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050791"/>
            <a:ext cx="4956048" cy="21214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050791"/>
            <a:ext cx="64008" cy="21214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160520"/>
            <a:ext cx="4626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Out of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617720"/>
            <a:ext cx="4626864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Speech synthesis / voice conversion trained on a student (ASVspoof logical access).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Payment and hall-office records (roster is a CSV).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3.1 Design: Problem Formulation (PO(b))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6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3.1.2 Literature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400" cy="411480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356616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Key work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we took from it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Cepstral features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Davis &amp; Mermelstein (1980); Furui (1986)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MFCC c1–c12 + Δ describe the words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Time alignment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Sakoe &amp; Chiba (1978)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DTW with a band: the same word spoken faster or slower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Noise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Boll (1979)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Power spectral subtraction before feature extraction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Atal (1974); Furui (1981)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Cepstral mean (and variance) normalisation removes the microphone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Score normalisation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Rosenberg et al. (1992)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Cohort ratio instead of a fixed raw-distance limit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Voice model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Reynolds, Quatieri &amp; Dunn (2000)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GMM-UBM with MAP adaptation from little enrolment speech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Anti-replay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Matsui &amp; Furui (1993); Wu et al. ASVspoof (2017)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Text-prompted random digits; replay threat model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Starting point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Seniors' baseline: Hall Entry (VQ-LBG)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Two-phrase idea (ID + name), MATLAB GUI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3.1 Design: Problem Formulation (PO(b))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7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3.1.3 Formulation of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Input: </a:t>
            </a: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x_ID[n], x_name[n] from any microphone (44.1/48 kHz), an optional typed ID, then 3 random digits x_ch[n].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2331720"/>
            <a:ext cx="2395728" cy="1600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233172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39" y="24871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39" y="2907792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Which enrolled student k* was named — or nobody?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79" y="2331720"/>
            <a:ext cx="2395728" cy="1600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33172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4871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907792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Is the voice really k*'s — or whose is it?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2331720"/>
            <a:ext cx="2395728" cy="1600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912" y="233172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3" y="24871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(iii)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907792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Is the speech live and fresh — not a recording?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95944" y="2331720"/>
            <a:ext cx="2395728" cy="1600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95944" y="233172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0536" y="248716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(iv)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2907792"/>
            <a:ext cx="2103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Is k* on this month's roster, inside a meal window, not yet served?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9848" y="4160520"/>
            <a:ext cx="10058400" cy="96012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8448" y="4160520"/>
            <a:ext cx="9601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  ⇔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phrase gate  ∧  voice gate  ∧  ¬ imposter  ∧  challenge passed  ∧  ¬ stored copy  ∧  roster &amp; meal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53035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6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Every "no" must carry a reason the operator can act on: IMPOSTER (with the suspect's ID), UNKNOWN, REPLAY or RETRY.</a:t>
            </a:r>
          </a:p>
          <a:p>
            <a:pPr marL="256032" indent="-256032" algn="l">
              <a:spcAft>
                <a:spcPts val="6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Performance targets: genuine acceptance (GAR) high on every microphone; false acceptance (FAR) of strangers and imposters ≈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3.1 Design: Problem Formulation (PO(b))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8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3.1.4 Analysis: why v4.1.4 refused genuine 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fig06_v414_live_mar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196939"/>
            <a:ext cx="4160520" cy="31499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13248" y="1783080"/>
          <a:ext cx="5715000" cy="3520440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25146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Root cause found in the code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Effect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apply_voice_calibration forced enrollmentTemplateFileNames = {'1.wav'}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One template per student, from one mic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Frozen calibration: mfcc.CmsNormalise = 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Microphone H(ω) left in every MFCC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Roll numbers 2206xxx share 4–5 of 7 digits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ID margin ≈ 1.00–1.05 for everyone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Rule: ID top-1 must equal name top-1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 random ID winner vetoed a correct name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Fixed raw DTW ceilings 31.35 / 30.35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 new mic raises all distances: all refused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8-mixture GMM on 1 take, not in the decision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No voice evidence at all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13248" y="5440680"/>
            <a:ext cx="5715000" cy="77724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5495544"/>
            <a:ext cx="5385816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All 65 logged live attempts had an ID margin below the 1.20 limit (median 1.02).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9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Design alternatives and the trade-offs we resolved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399" cy="3803904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3749039"/>
                <a:gridCol w="44805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Options considered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Chosen and why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Sampling rate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44.1 kHz (baseline) vs 16 kHz vs 8 kHz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8 kHz: formants &lt; 4 kHz, 5.5× less computation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Word matching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VQ codebook vs HMM vs DTW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DTW: works with 3–15 takes, no training, keeps timing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Thresholds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Fixed raw distance vs cohort ratio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Cohort ratio: invariant to a microphone gain / shift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Voice model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None vs GMM per student vs GMM-UBM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GMM-UBM + MAP: robust with 10–20 s per student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Acceptance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Lower the threshold vs rank-1 lead ("clear winner")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Clear winner: +3.5 pts GAR, no new stranger accepts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Anti-replay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Loudspeaker detector vs text challenge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Random digits: a recording cannot know the code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Challenge length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2 vs 3 vs 4 digits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3 digits: 1000 codes, ≈3 s, 27 one-digit decoys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9848" y="5715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Every choice trades security (FAR) against convenience (GAR) and speed; the numbers behind each choice are in Section 5.3.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10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Fundamental theory: resampling, spectral subtraction, speech mask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4800600" cy="443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Speech formants lie below 4 kHz, so by Nyquist fs = 8 kHz is enough.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44.1 → 8 kHz uses L/M = 80/441 (48 kHz: 1/6): up-sample by L, polyphase FIR low-pass at π/max(L, M), down-sample by M.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Power spectral subtraction:
|Ŝ(k)|² = max(|Y(k)|² − α·P̂_N(k), β·|Y(k)|²), α = 2, β = 0.02.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P̂_N is estimated from the quietest 10 % of 32 ms Hann frames, so it works even when a student speaks at once.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Speech mask: keep frames within 30 dB of the loudest frame.</a:t>
            </a:r>
          </a:p>
        </p:txBody>
      </p:sp>
      <p:pic>
        <p:nvPicPr>
          <p:cNvPr id="10" name="Picture 9" descr="fig01_signal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073707"/>
            <a:ext cx="5074920" cy="3853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11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Fundamental theory: pre-emphasis, windowed framing, MFCC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4800600" cy="443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Pre-emphasis H(z) = 1 − 0.97 z⁻¹ (zero at z = 0.97) lifts the weak F3/F4 formants (speech falls ≈ −6 dB/octave).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25 ms Hamming frames (200 samples), 10 ms hop:
w[n] = 0.54 − 0.46 cos(2πn/(N−1)), then a 256-point FFT.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Mel scale: mel(f) = 2595 log₁₀(1 + f/700); 26 triangular filters, 100–3800 Hz.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Cepstrum (DCT-II): cₙ = Σₘ log Eₘ · cos(πn(m − ½)/M). Keep c1…c12 (c0 = loudness), lifter 22.</a:t>
            </a:r>
          </a:p>
        </p:txBody>
      </p:sp>
      <p:pic>
        <p:nvPicPr>
          <p:cNvPr id="10" name="Picture 9" descr="fig02_preemph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822467"/>
            <a:ext cx="5074920" cy="2024344"/>
          </a:xfrm>
          <a:prstGeom prst="rect">
            <a:avLst/>
          </a:prstGeom>
        </p:spPr>
      </p:pic>
      <p:pic>
        <p:nvPicPr>
          <p:cNvPr id="11" name="Picture 10" descr="fig03_mel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7" y="4077747"/>
            <a:ext cx="5074920" cy="2085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12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Mathematical justification: why a new microphone broke v4.1.4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783080"/>
            <a:ext cx="539496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83080"/>
            <a:ext cx="6400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1016" y="1837943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Microphone / room = LTI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213055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Y(ω) = X(ω)·H(ω)   ⇒   log|Y| = log|X| + log|H|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" y="2679191"/>
            <a:ext cx="539496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9848" y="2679191"/>
            <a:ext cx="6400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1016" y="273405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After the DCT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" y="3026663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c_y[t] = c_x[t] + c_h      (c_h constant over the utterance)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3575304"/>
            <a:ext cx="539496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" y="3575304"/>
            <a:ext cx="6400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1016" y="3630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CMS / CMVN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3922776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c_y[t] − mean_t(c_y) = c_x[t] − mean_t(c_x)   ⇒  H(ω) cancels exactly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4471416"/>
            <a:ext cx="5394960" cy="78638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848" y="4471416"/>
            <a:ext cx="64008" cy="7863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1016" y="4526279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Delta (FIR differentiator)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481888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Δc[t] = Σₙ n·(c[t+n] − c[t−n]) / (2Σₙ n²), N = 2  — blind to any offset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" y="5440680"/>
            <a:ext cx="5394960" cy="77724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39" y="5495544"/>
            <a:ext cx="5065776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30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v4.1.4's frozen calibration set CmsNormalise = 0 and enrolled only 1.wav, so the channel stayed inside every feature.</a:t>
            </a:r>
          </a:p>
        </p:txBody>
      </p:sp>
      <p:pic>
        <p:nvPicPr>
          <p:cNvPr id="27" name="Picture 26" descr="fig04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07618"/>
            <a:ext cx="4480560" cy="226552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47688" y="4434840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Content features (left) drive the DTW word match; speaker features (right) drive the GMM voice model. Both are zero-mean and unit-variance per utterance, whichever microphone recorded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13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Modification: multi-template DTW with cohort normalisation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4800600" cy="443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D(i,j) = ‖aᵢ − bⱼ‖ + min{D(i−1,j−1), D(i−1,j), D(i,j−1)}, band |i − j| ≤ 0.4·max(n, m); distance = D(n,m)/K (path length).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Every usable take of every student is a template: dₖ = min over student k's takes (v4.1.4 used only 1.wav).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Cohort score:
P(k) = ln [ mean of the 5 smallest dⱼ (j ≠ k) / dₖ ]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new microphone scales all dⱼ together; the ratio cancels it. P &gt; 0 ⇔ closer to k than to k's nearest rivals.</a:t>
            </a:r>
          </a:p>
        </p:txBody>
      </p:sp>
      <p:pic>
        <p:nvPicPr>
          <p:cNvPr id="10" name="Picture 9" descr="fig05_dt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023152"/>
            <a:ext cx="5074920" cy="2308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53328" y="4709160"/>
            <a:ext cx="5074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The genuine take follows a near-diagonal low-cost valley. Another student's template forces long detours (warping) and a 24 % higher mean frame distance; the cohort ratio turns this gap into P_name.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14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Modification: GMM-UBM voice biometrics with MAP adaptation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83080"/>
            <a:ext cx="5303520" cy="443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p(x|λ) = Σₖ wₖ N(x; μₖ, diag σₖ²), K = 64. The UBM is trained by EM on every student's digit speech — never on a test phrase.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MAP (means only): nₖ = Σₜ γₜ(k),  Eₖ[x] = Σₜ γₜ(k)xₜ / nₖ,  αₖ = nₖ/(nₖ + 16),  μ̂ₖ = αₖEₖ[x] + (1 − αₖ)μₖ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LLR(k) = (1/T) Σₜ [ln p(xₜ|λₖ) − ln p(xₜ|UBM)];  V(k) = LLR(k) − mean of the 5 best other LLRs.</a:t>
            </a:r>
          </a:p>
          <a:p>
            <a:pPr marL="256032" indent="-256032" algn="l">
              <a:spcAft>
                <a:spcPts val="8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Text independent: ID + name frames (3–5 s) and the challenge digits all give voice evidence.</a:t>
            </a:r>
          </a:p>
        </p:txBody>
      </p:sp>
      <p:pic>
        <p:nvPicPr>
          <p:cNvPr id="10" name="Picture 9" descr="fig15_gmm_map_t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761" y="1783080"/>
            <a:ext cx="3758973" cy="2880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56248" y="4800600"/>
            <a:ext cx="4572000" cy="1417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56248" y="4800600"/>
            <a:ext cx="64008" cy="1417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4910328"/>
            <a:ext cx="4242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Why a UBM?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5367528"/>
            <a:ext cx="4242816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Only components a student used move away from the UBM, so little speech cannot over-fit; the UBM term removes what all speakers share (phrase, room, mic).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15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Algorithm: fused decision, imposter identification, unknown speaker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" y="1783080"/>
            <a:ext cx="1417320" cy="475488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783080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5" y="1783080"/>
            <a:ext cx="84856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F(k) = 0.5·P_id(k) + 1.0·P_name(k) + 0.25·V(k);  candidate c = argmax F (or the typed ID).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" y="2350008"/>
            <a:ext cx="1417320" cy="475488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350008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5" y="2350008"/>
            <a:ext cx="84856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P_name(c) ≥ 0.07,  P_id(c) ≥ −0.15,  V(c) ≥ 0,  and c is the rank-1 voice.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" y="2916936"/>
            <a:ext cx="1417320" cy="475488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916936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IMPOSTER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5" y="2916936"/>
            <a:ext cx="84856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Words name X = argmax(P_id + P_name), voice says Y = argmax V: Y ≠ X, V(Y) − V(X) ≥ 0.15, V(Y) ≥ 0.20 → report "likely imposter = Y".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" y="3483863"/>
            <a:ext cx="1417320" cy="475488"/>
          </a:xfrm>
          <a:prstGeom prst="roundRect">
            <a:avLst>
              <a:gd name="adj" fmla="val 20000"/>
            </a:avLst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483863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2615" y="3483863"/>
            <a:ext cx="84856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max V &lt; 0 and max P_name &lt; 0.07: the speaker is not enrolled.</a:t>
            </a:r>
          </a:p>
        </p:txBody>
      </p:sp>
      <p:pic>
        <p:nvPicPr>
          <p:cNvPr id="21" name="Picture 20" descr="fig07_cohort_2206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370" y="4160520"/>
            <a:ext cx="8865354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16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New in v1.1: the "clear winner" ranking rule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73736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Counter question: rank 1 is the right student, yet access is refused. Lower the threshold, or accept a clear rank-1 lead?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2386584"/>
            <a:ext cx="4663440" cy="16642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2386584"/>
            <a:ext cx="64008" cy="16642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244144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Also accept c (voice not rank 1)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2761488"/>
            <a:ext cx="4389120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2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F(c) − F(rank 2) ≥ 0.08   (clear lead)</a:t>
            </a:r>
          </a:p>
          <a:p>
            <a:pPr marL="256032" indent="-256032" algn="l">
              <a:spcAft>
                <a:spcPts val="2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P_name(c) ≥ 0.12   (strong name match)</a:t>
            </a:r>
          </a:p>
          <a:p>
            <a:pPr marL="256032" indent="-256032" algn="l">
              <a:spcAft>
                <a:spcPts val="2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voice rank of c ≤ 3 and V(c) ≥ −0.10</a:t>
            </a:r>
          </a:p>
          <a:p>
            <a:pPr marL="256032" indent="-256032" algn="l">
              <a:spcAft>
                <a:spcPts val="2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262626"/>
                </a:solidFill>
                <a:latin typeface="Cambria Math"/>
                <a:ea typeface="Cambria Math"/>
                <a:cs typeface="Cambria Math"/>
              </a:rPr>
              <a:t>P_id(c) ≥ −0.15 and no imposter conflict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16168" y="1783080"/>
          <a:ext cx="5212080" cy="1609344"/>
        </p:xfrm>
        <a:graphic>
          <a:graphicData uri="http://schemas.openxmlformats.org/drawingml/2006/table">
            <a:tbl>
              <a:tblPr firstRow="0" bandRow="0"/>
              <a:tblGrid>
                <a:gridCol w="3017520"/>
                <a:gridCol w="1097280"/>
                <a:gridCol w="10972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Enrol take 1, test other takes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v1.0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v1.1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Genuine accepted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91.8 %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E7D32"/>
                          </a:solidFill>
                          <a:latin typeface="Arial"/>
                        </a:rPr>
                        <a:t>95.3 %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Unknown speaker accepted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0.9 %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0.9 %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Perfect-words imposter accepted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0.08 %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0.25 %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16168" y="3474720"/>
            <a:ext cx="5212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5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Lowering P_name to 0.05 instead was measured to admit 2.6 % of unknown speakers, so it was rejected (Python mirror: 85 genuine / 117 unknown / 3627 mimic trials).</a:t>
            </a:r>
          </a:p>
        </p:txBody>
      </p:sp>
      <p:pic>
        <p:nvPicPr>
          <p:cNvPr id="16" name="Picture 15" descr="fig17_clear_wi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074" y="4178808"/>
            <a:ext cx="6747947" cy="20848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3.2 Design Methods (PO(a))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17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2206141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Modification: replay-attack prevention in three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783080"/>
            <a:ext cx="4846320" cy="1005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83080"/>
            <a:ext cx="64008" cy="1005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1016" y="183794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L1  Random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1016" y="2130552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3 random digits; reference = the claimed student's own digits, DTW-compared with 27 one-digit decoys. PASS if D_req ≤ 5.40, min D_decoy / D_req ≥ 0.97, voice gap &lt; 0.40. Two attempts.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" y="2898648"/>
            <a:ext cx="4846320" cy="1005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9848" y="2898648"/>
            <a:ext cx="64008" cy="1005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1016" y="2953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Splice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" y="32461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D_req &lt; 2.0 ⇒ pasted from the stored digit files (smallest genuine value 3.58).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4014215"/>
            <a:ext cx="4846320" cy="1005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" y="4014215"/>
            <a:ext cx="64008" cy="1005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1016" y="406907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L2  Replay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436168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DTW &lt; 1.0 to any stored take or the last 20 accepted takes ⇒ digital copy (natural repeats ≥ 2.41).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5129784"/>
            <a:ext cx="4846320" cy="1005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848" y="5129784"/>
            <a:ext cx="64008" cy="100584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1016" y="51846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L3  Sub-200 Hz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5477256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proposal's loudspeaker cue, kept as a logged advisory (no labelled replay corpus to calibrate it).</a:t>
            </a:r>
          </a:p>
        </p:txBody>
      </p:sp>
      <p:pic>
        <p:nvPicPr>
          <p:cNvPr id="25" name="Picture 24" descr="fig10_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859019"/>
            <a:ext cx="5029200" cy="254560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9048" y="4617720"/>
            <a:ext cx="502920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Corpus trials: genuine live answers pass 93 % per attempt; replayed ID/name recordings 0/18; old-code recordings 0/18. A recording cannot contain digits chosen one second ago.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3.3 Design: System Block Diagram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18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Software signal chain (replaces the circuit diagram: no custom hardware)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" y="2011680"/>
            <a:ext cx="1783080" cy="105156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163677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Microphone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 + name · 0.5 s ambient · auto-stop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201168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011680"/>
            <a:ext cx="186537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Front-end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 kHz · spectral subtr. · MFCC+Δ · CMVN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96128" y="178308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783080"/>
            <a:ext cx="2002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Words (DTW)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P_id, P_name vs all takes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260604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606040"/>
            <a:ext cx="200253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(GMM-UBM)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 = cohort-normalised LLR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011680"/>
            <a:ext cx="2971800" cy="105156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11680"/>
            <a:ext cx="282549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Fused decision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· IMPOSTER (who) · UNKNOWN · RETRY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3520440"/>
            <a:ext cx="2971800" cy="8686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520440"/>
            <a:ext cx="28254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Replay memory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 copy of a stored take?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4800600"/>
            <a:ext cx="2971800" cy="8686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28254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Random 3-digit challenge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right digits · same voice · not spliced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4800600"/>
            <a:ext cx="2971800" cy="8686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800600"/>
            <a:ext cx="282549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Roster + meal window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month · one meal per 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9848" y="4800600"/>
            <a:ext cx="3063240" cy="8686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800600"/>
            <a:ext cx="291693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 + log</a:t>
            </a:r>
          </a:p>
          <a:p>
            <a:pPr marL="0" indent="0" algn="ctr">
              <a:spcAft>
                <a:spcPts val="10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CSV audit · self-adapt to a new mic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52928" y="2542032"/>
            <a:ext cx="36576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28" name="Connector 27"/>
          <p:cNvCxnSpPr/>
          <p:nvPr/>
        </p:nvCxnSpPr>
        <p:spPr>
          <a:xfrm flipV="1">
            <a:off x="5230368" y="2139696"/>
            <a:ext cx="365760" cy="237744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29" name="Connector 28"/>
          <p:cNvCxnSpPr/>
          <p:nvPr/>
        </p:nvCxnSpPr>
        <p:spPr>
          <a:xfrm>
            <a:off x="5230368" y="2697480"/>
            <a:ext cx="365760" cy="265176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30" name="Connector 29"/>
          <p:cNvCxnSpPr/>
          <p:nvPr/>
        </p:nvCxnSpPr>
        <p:spPr>
          <a:xfrm>
            <a:off x="7744967" y="2139696"/>
            <a:ext cx="411481" cy="283464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31" name="Connector 30"/>
          <p:cNvCxnSpPr/>
          <p:nvPr/>
        </p:nvCxnSpPr>
        <p:spPr>
          <a:xfrm flipV="1">
            <a:off x="7744967" y="2697480"/>
            <a:ext cx="411481" cy="265176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32" name="Connector 31"/>
          <p:cNvCxnSpPr/>
          <p:nvPr/>
        </p:nvCxnSpPr>
        <p:spPr>
          <a:xfrm>
            <a:off x="9642348" y="3063240"/>
            <a:ext cx="0" cy="45720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33" name="Connector 32"/>
          <p:cNvCxnSpPr/>
          <p:nvPr/>
        </p:nvCxnSpPr>
        <p:spPr>
          <a:xfrm>
            <a:off x="9642348" y="4389120"/>
            <a:ext cx="0" cy="41148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34" name="Connector 33"/>
          <p:cNvCxnSpPr/>
          <p:nvPr/>
        </p:nvCxnSpPr>
        <p:spPr>
          <a:xfrm flipH="1">
            <a:off x="7653528" y="5230368"/>
            <a:ext cx="50292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cxnSp>
        <p:nvCxnSpPr>
          <p:cNvPr id="35" name="Connector 34"/>
          <p:cNvCxnSpPr/>
          <p:nvPr/>
        </p:nvCxnSpPr>
        <p:spPr>
          <a:xfrm flipH="1">
            <a:off x="4133087" y="5230368"/>
            <a:ext cx="548641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sp>
        <p:nvSpPr>
          <p:cNvPr id="36" name="TextBox 35"/>
          <p:cNvSpPr txBox="1"/>
          <p:nvPr/>
        </p:nvSpPr>
        <p:spPr>
          <a:xfrm>
            <a:off x="1069848" y="5833872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Any failed gate ends the transaction with a named reason; every attempt is logged to VerificationAttempts.csv.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3.4 Design: Simulation – Key Code (1/2)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19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vsd_decide.m: fused decision, imposter identification, clear winner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783080"/>
            <a:ext cx="6355080" cy="443484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83080"/>
            <a:ext cx="54864" cy="4434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1856231"/>
            <a:ext cx="6080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MATLAB  ·  vsd_decide.m (condensed)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167128"/>
            <a:ext cx="6080760" cy="3977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F = c.WeightID*Pid + c.WeightName*Pn + c.Lambda*V;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[~, order] = sort(F, 'descend');  cidx = order(1);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if ~isempty(claimedId), cidx = claimIdx; end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[~, vorder] = sort(V, 'descend');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vrank = find(vorder == cidx, 1);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[~, X] = max(Pid + Pn);          </a:t>
            </a:r>
            <a:r>
              <a:rPr sz="110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who the WORDS name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Y = vorder(1);                   </a:t>
            </a:r>
            <a:r>
              <a:rPr sz="110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whose VOICE it is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Gphrase = Pn(cidx) &gt;= c.MinPname &amp;&amp; Pid(cidx) &gt;= c.MinPid;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Gvoice  = V(cidx) &gt;= c.MinVoice &amp;&amp; vrank &lt;= c.VoiceRankMax;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isImp = (Y ~= X) &amp;&amp; (V(Y) - V(X) &gt;= c.ImpGap) ...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    &amp;&amp; (V(Y) &gt;= c.ImpMinVoice);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cw = Pn(cidx) &gt;= 0.12 &amp;&amp; R.FMargin &gt;= 0.08 ...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 &amp;&amp; vrank &lt;= 3 &amp;&amp; V(cidx) &gt;= -0.10;  </a:t>
            </a:r>
            <a:r>
              <a:rPr sz="110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clear winner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if isImp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R.Decision = 'IMPOSTER'; R.ImposterSuspect = st{Y};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elseif (Gphrase &amp;&amp; Gvoice) || cw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R.Decision = 'VERIFIED'; R.Student = st{cidx};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elseif max(V) &lt; c.MinVoice &amp;&amp; max(Pn) &lt; c.MinPname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R.Decision = 'UNKNOWN';          </a:t>
            </a:r>
            <a:r>
              <a:rPr sz="110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not enrolled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  R.Decision = 'RETRY';            </a:t>
            </a:r>
            <a:r>
              <a:rPr sz="110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names the weak gate</a:t>
            </a:r>
          </a:p>
          <a:p>
            <a:pPr marL="0" indent="0" algn="l">
              <a:buNone/>
            </a:pPr>
            <a:r>
              <a:rPr sz="110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7808" y="1783080"/>
            <a:ext cx="3520440" cy="4434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1783080"/>
            <a:ext cx="64008" cy="4434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1892807"/>
            <a:ext cx="319125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2350008"/>
            <a:ext cx="3191256" cy="3776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 score per student joins what was said (P_id, P_name) and who said it (V).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roll number gets half weight: 2206xxx is almost the same for everyone.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X and Y are computed independently; a strong disagreement names the real speaker Y.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clear-winner test accepts a far-ahead rank 1 whose voice is in the top 3.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Every branch sets a Stage and a Reason for the GUI gate table and the CSV log.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3.4 Design: Simulation – Key Code (2/2)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20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CMVN front-end, MAP adaptation and the random-digit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783080"/>
            <a:ext cx="4937760" cy="292608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83080"/>
            <a:ext cx="54864" cy="2926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1874519"/>
            <a:ext cx="4663440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vsd_frontend.m -- remove the microphone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content = [cs ds];              </a:t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c1..c12, delta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mu = mean(content,1); sd = std(content,1,1);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U.Content = (content - mu) ./ sd;   </a:t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CMVN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vsd_gmm.m -- MAP adaptation of UBM means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P  = exp(L - max(L,[],2)); P = P./sum(P,2);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n  = sum(P,1).';                </a:t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soft counts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Ex = (P.'*X) ./ max(n,1e-10);   </a:t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1st-order stats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a  = n ./ (n + r);              </a:t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r = 16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mu = a.*Ex + (1-a).*ubm.mu;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783080"/>
            <a:ext cx="4937760" cy="292608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783080"/>
            <a:ext cx="54864" cy="2926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74519"/>
            <a:ext cx="4663440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vsd_challenge.m -- fresh digits only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codes = [code; neighbours(code)];  </a:t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+ 27 decoys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for k = 1:size(codes,1)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T = template(M.Digits{s}, codes(k,:), c);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  D(k) = vsd_dtw(U.Content, T.Content, 0.4);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end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margin = min(D(2:end)) / D(1);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splice = D(1) &lt; c.Challenge.MinDist;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pass = D(1) &lt;= 5.40 &amp;&amp; margin &gt;= 0.97 &amp;&amp; ~splice;</a:t>
            </a:r>
          </a:p>
          <a:p>
            <a:pPr marL="0" indent="0" algn="l">
              <a:buNone/>
            </a:pPr>
            <a:r>
              <a:rPr sz="11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  <a:r>
              <a:rPr sz="11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+ voice of the digits: gap &lt; 0.40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84632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CMVN is the microphone fix: the per-utterance mean removes log|H(ω)|; the std equalises level.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MAP moves each UBM mean toward the student in proportion to the data it explains, α = n/(n+16).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84632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asked code must beat all 27 codes that differ by one digit — the hardest confusions.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 answer too close to the stored digits (D &lt; 2.0) is a paste-up, not speech.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3.4 Design: Simulation Results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21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Genuine vs imposter score distributions (all corpus trials)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fig09_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889016"/>
            <a:ext cx="10058400" cy="29428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9848" y="5074920"/>
            <a:ext cx="100584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5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Name and voice separate cleanly: genuine medians +0.40 and +1.28, while 99 % of imposter scores lie below −0.01 and 0.00. Dashed lines = deployed thresholds.</a:t>
            </a:r>
          </a:p>
          <a:p>
            <a:pPr marL="256032" indent="-256032" algn="l">
              <a:spcAft>
                <a:spcPts val="5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ID phrase alone overlaps heavily — why v4.1.4's "ID must match first" rule failed, and why P_id now only has a veto at −0.15.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4 Implementation: Demonstration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22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Working process: one counter transaction, step by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9848" y="178308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39" y="1911095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39" y="238658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 then name; 0.5 s ambient, 3-2-1 cue, auto-stop after 0.8 s silence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1568" y="2743200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sp>
        <p:nvSpPr>
          <p:cNvPr id="13" name="Rounded Rectangle 12"/>
          <p:cNvSpPr/>
          <p:nvPr/>
        </p:nvSpPr>
        <p:spPr>
          <a:xfrm>
            <a:off x="3630168" y="178308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911095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Front-end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238658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resample, noise subtraction, speech mask, MFCC+Δ, CMVN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1888" y="2743200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sp>
        <p:nvSpPr>
          <p:cNvPr id="17" name="Rounded Rectangle 16"/>
          <p:cNvSpPr/>
          <p:nvPr/>
        </p:nvSpPr>
        <p:spPr>
          <a:xfrm>
            <a:off x="6190488" y="178308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1911095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Score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38658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DTW vs every take + GMM-UBM LLR for all 32 students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22208" y="2743200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sp>
        <p:nvSpPr>
          <p:cNvPr id="21" name="Rounded Rectangle 20"/>
          <p:cNvSpPr/>
          <p:nvPr/>
        </p:nvSpPr>
        <p:spPr>
          <a:xfrm>
            <a:off x="8750807" y="178308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399" y="1911095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 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399" y="238658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fused score, gates, clear winner, imposter X≠Y, unknown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0807" y="402336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8B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399" y="4151376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Replay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9" y="462686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refuse exact copies of stored or accepted takes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8522207" y="4983480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sp>
        <p:nvSpPr>
          <p:cNvPr id="28" name="Rounded Rectangle 27"/>
          <p:cNvSpPr/>
          <p:nvPr/>
        </p:nvSpPr>
        <p:spPr>
          <a:xfrm>
            <a:off x="6190488" y="402336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8B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4151376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462686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"say four seven two": digits + voice + splice guard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961888" y="4983480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sp>
        <p:nvSpPr>
          <p:cNvPr id="32" name="Rounded Rectangle 31"/>
          <p:cNvSpPr/>
          <p:nvPr/>
        </p:nvSpPr>
        <p:spPr>
          <a:xfrm>
            <a:off x="3630168" y="402336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8B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59" y="4151376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  Roster &amp; meal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59" y="462686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assigned this month, meal window open, not served yet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401568" y="4983480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  <p:sp>
        <p:nvSpPr>
          <p:cNvPr id="36" name="Rounded Rectangle 35"/>
          <p:cNvSpPr/>
          <p:nvPr/>
        </p:nvSpPr>
        <p:spPr>
          <a:xfrm>
            <a:off x="1069848" y="4023360"/>
            <a:ext cx="2331720" cy="1920240"/>
          </a:xfrm>
          <a:prstGeom prst="roundRect">
            <a:avLst>
              <a:gd name="adj" fmla="val 7000"/>
            </a:avLst>
          </a:prstGeom>
          <a:solidFill>
            <a:srgbClr val="8B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39" y="4151376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 &amp; 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39" y="4626864"/>
            <a:ext cx="2011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 CSV, speak welcome, store confident takes (new mic)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916667" y="3703320"/>
            <a:ext cx="0" cy="32004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4 Implementation: Demonstration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23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Software modules (MATLAB, runs with RUN_ME)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400" cy="3511296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4206240"/>
                <a:gridCol w="26517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DSP content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vsd_frontend.m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Resample, spectral subtraction, speech mask, MFCC+Δ, CMVN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Exp. 1–5: sampling, DFT, FIR, windowing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vsd_dtw.m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Anti-diagonal vectorised DTW, Sakoe-Chiba band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Dynamic programming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vsd_gmm.m, vsd_build_models.m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64-mixture UBM (EM), MAP adaptation, incremental cache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Statistical modelling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vsd_score_query.m, vsd_decide.m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Cohort scores, fused decision, clear winner, imposter / unknown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Normalisation, hypothesis test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vsd_challenge.m, vsd_replay_guard.m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Random digits + 27 decoys, splice guard, replay memory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Anti-spoofing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vsd_verify_transaction.m, verify_meal_workflow.m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Counter transaction, roster, meal window, CSV logs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System integration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meal_verification_gui.m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6-gate table, IMPOSTER / REPLAY banners, digit recorder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App Designer GUI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069848" y="5440680"/>
            <a:ext cx="10058400" cy="777240"/>
          </a:xfrm>
          <a:prstGeom prst="rect">
            <a:avLst/>
          </a:prstGeom>
          <a:solidFill>
            <a:srgbClr val="F7F7F7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5440680"/>
            <a:ext cx="54864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5532120"/>
            <a:ext cx="9784080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&gt;&gt; RUN_ME             </a:t>
            </a:r>
            <a:r>
              <a:rPr sz="12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counter GUI          &gt;&gt; RUN_ME('demo')      % 7 genuine / attack cases</a:t>
            </a:r>
          </a:p>
          <a:p>
            <a:pPr marL="0" indent="0" algn="l">
              <a:buNone/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&gt;&gt; RUN_ME('evaluate') </a:t>
            </a:r>
            <a:r>
              <a:rPr sz="1250" b="0" i="0">
                <a:solidFill>
                  <a:srgbClr val="228B22"/>
                </a:solidFill>
                <a:latin typeface="Consolas"/>
                <a:ea typeface="Consolas"/>
                <a:cs typeface="Consolas"/>
              </a:rPr>
              <a:t>% every stored voice   &gt;&gt; RUN_ME('rebuild')   % retrain the voice models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4 Implementation: Demonstration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24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RUN_ME('demo'): seven complete transactions from stored recordings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400" cy="3803904"/>
        </p:xfrm>
        <a:graphic>
          <a:graphicData uri="http://schemas.openxmlformats.org/drawingml/2006/table">
            <a:tbl>
              <a:tblPr firstRow="0" bandRow="0"/>
              <a:tblGrid>
                <a:gridCol w="1280160"/>
                <a:gridCol w="4846320"/>
                <a:gridCol w="2011680"/>
                <a:gridCol w="19202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Engine decision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Gate that acted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 Genuine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2206147 says own ID + name (take 4, laptop mic, held out) + live digits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E7D32"/>
                          </a:solidFill>
                          <a:latin typeface="Arial"/>
                        </a:rPr>
                        <a:t>VERIFIED 2206147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all gates passed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 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2206147 types 2206141's ID and speaks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IMPOSTER → 2206147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4 Imposter check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3 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2206147 says 2206141's roll number + plays his name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IMPOSTER → 2206147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4 Imposter check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4 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2206141's stored enrolment files injected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5 Replay memory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5 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2206141 played through a phone speaker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RETRY (refused)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 Phrase content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 Stale code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recording of an old code 2-1-9 for asked 5-6-6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5 Challenge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7 Splice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2206141's enrolled digit files pasted as the answer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5 Splice guard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069848" y="5669280"/>
            <a:ext cx="10058400" cy="566928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5724144"/>
            <a:ext cx="97292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35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All 7 cases behave as designed. Offline sweep, one full transaction per student with the challenge: 30 of 32 students verified end-to-end.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4.1 Implementation: Photo Gallery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25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Working process, captured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2103120"/>
            <a:ext cx="4937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verify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7" y="2159068"/>
            <a:ext cx="4937760" cy="3134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9848" y="5440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250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Counter GUI: Verify tab (v4.1.4 shell; v4.1.4_claude adds 6 security gates)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2103120"/>
            <a:ext cx="4937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admin_roster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159068"/>
            <a:ext cx="4937760" cy="31342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0488" y="5440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250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Admin workspace: monthly roster and meal hours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4.1 Implementation: Photo Gallery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26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2206147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Working process, captured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2103120"/>
            <a:ext cx="4937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fig13_demo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476543"/>
            <a:ext cx="4937760" cy="2499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9848" y="5440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250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RUN_ME('demo'): actual engine output of the 7 test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2103120"/>
            <a:ext cx="4937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provements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159068"/>
            <a:ext cx="4937760" cy="31342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90488" y="5440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250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Admin workspace: measured-improvements evidence tab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 Design Analysis and Evaluation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27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737360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73736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1965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606039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Novelty vs the seniors'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79" y="1737360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73736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1965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2606039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Design Considerations (PO(c))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737360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3912" y="173736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965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606039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Investigations (PO(d))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95944" y="1737360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95944" y="173736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1965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606039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Limitations of Tools (PO(e))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9848" y="3977639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" y="3977639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2728" y="42062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484632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Impact Assessment (PO(f))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79" y="3977639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11879" y="3977639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59" y="42062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59" y="484632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Sustainability Evaluation (PO(g))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3977639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3977639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42062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484632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Ethical Issues (PO(h))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95944" y="3977639"/>
            <a:ext cx="2395728" cy="19659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95944" y="3977639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78824" y="420624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8824" y="484632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CO–PO attainment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5.1 Novelty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28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Modifications from the seniors' baseline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399" cy="4224528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3749039"/>
                <a:gridCol w="42976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Seniors' baseline (Hall Entry, VQ)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Ours: v4.1.4_claude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Acquisition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Fixed 3 s blocking recording at 44.1 kHz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0.5 s ambient + auto-stop (0.8 s silence, 8 s cap)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Sampling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44.1 kHz for all processing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Rational resampling to 8 kHz (L/M = 80/441), 5.5× fewer samples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Noise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None (a Wiener file existed but was unused)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Power spectral subtraction, noise from the quietest 10 % of frames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Pre-emphasis / framing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1 − 0.99 z⁻¹; block-energy silence remover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1 − 0.97 z⁻¹; 25 ms Hamming, 10 ms hop; 30 dB speech mask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12 MFCC + Δ + ΔΔ, 50–7000 Hz, no normalisation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c1–c12 + Δ, 100–3800 Hz, CMVN (cancels the mic)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Templates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One 8-codeword LBG-VQ codebook per phrase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Every take as a DTW template + adaptive store for new mics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5.1 Novelty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29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Modifications from the seniors' baseline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399" cy="4224528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3749039"/>
                <a:gridCol w="429768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Seniors' baseline (Hall Entry, VQ)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Ours: v4.1.4_claude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Nearest VQ codebook (Euclidean distortion)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DTW (Sakoe-Chiba) + cohort score P = ln(rivals / own)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Voice model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64-mixture GMM-UBM, MAP r = 16, cohort-normalised LLR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Accept if ID and name codebooks agree; no threshold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Fused F, phrase + voice gates, clear-winner rule, UNKNOWN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Not detected (any voice saying a name is accepted)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Words-vs-voice conflict: refuse and name the likely 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Replay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Random 3-digit challenge (27 decoys), splice guard, replay memory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Application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Gate attendance only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8B0000"/>
                          </a:solidFill>
                          <a:latin typeface="Arial"/>
                        </a:rPr>
                        <a:t>Monthly roster, meal windows, one meal per window, CSV audit, GUI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5.2 Design Considerations (PO(c))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30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481328"/>
            <a:ext cx="3255264" cy="3611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481328"/>
            <a:ext cx="64008" cy="36118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5.2.1  Public health and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048256"/>
            <a:ext cx="2926080" cy="295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Touchless: no shared meal card, keypad or pen.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refusal always states the reason and the next step, so no argument builds at a busy queue.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typed ID is optional.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6" y="1481328"/>
            <a:ext cx="3255264" cy="3611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481328"/>
            <a:ext cx="64008" cy="36118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5.2.2  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048256"/>
            <a:ext cx="2926080" cy="295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Software only: existing PC and microphone, no new hardware.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printed monthly meal cards or coupons.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8 kHz processing cuts computation (and power) about 5.5×.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3" y="1481328"/>
            <a:ext cx="3255264" cy="3611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2983" y="1481328"/>
            <a:ext cx="64008" cy="36118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5.2.3  Cultural and societal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048256"/>
            <a:ext cx="2926080" cy="295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Works with Bangla and English names: words are matched with the student's own templates, not a language model.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Stops proxy meals, protecting the food budget of paying residents.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5276088"/>
            <a:ext cx="10058400" cy="9601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39" y="5330952"/>
            <a:ext cx="9729216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Trade-off we accepted: the 3 s digit challenge costs a little speed at the counter but is what makes a phone recording useless; everything else runs on hardware the hall already owns.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5.3 Investigations (PO(d))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31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Same data, same protocol: enrol take 1, test every other take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069848" y="1783080"/>
          <a:ext cx="649224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744967" y="1783080"/>
            <a:ext cx="3383280" cy="4434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44967" y="1783080"/>
            <a:ext cx="64008" cy="4434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46136" y="1892807"/>
            <a:ext cx="30540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Reading the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2350008"/>
            <a:ext cx="3054096" cy="3776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Same mic: 100.0 % vs 87.9 % (seniors).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Other mic — the hall complaint: 85.2 % vs 25.9 % (seniors) and 7.4 % (v4.1.4).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Unknown speakers: 0.9 % vs 15.4 % (seniors).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Trials: 58 same-mic + 27 other-mic genuine, 117 unknown-speaker.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5.3 Investigations (PO(d))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32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Deployed configuration v1.1: all takes enrolled, measured in MATLAB/Octave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783080"/>
            <a:ext cx="23957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" y="178308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1929384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98.3 %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624328"/>
            <a:ext cx="2121408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genuine accepted, leave-one-take-out (114/116), all mics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79" y="1783080"/>
            <a:ext cx="23957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178308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929384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90.0 %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624328"/>
            <a:ext cx="2121408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genuine accepted, enrolled on the database mic only, tested on other mics (18/20)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3912" y="1783080"/>
            <a:ext cx="23957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3912" y="178308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1929384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0.0 %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624328"/>
            <a:ext cx="2121408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unknown speakers accepted (0/116, each student removed in turn)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95944" y="1783080"/>
            <a:ext cx="2395728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95944" y="1783080"/>
            <a:ext cx="2395728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3104" y="1929384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0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0.22 %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2624328"/>
            <a:ext cx="2121408" cy="960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perfect-words imposters accepted (8 of 3596 trials)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393192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9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Wrong-student accepts: 0 in all genuine protocols. When the words claim X but the voice is enrolled student Y, Y is named as the likely imposter in 97.4 % of mimic trials.</a:t>
            </a:r>
          </a:p>
          <a:p>
            <a:pPr marL="256032" indent="-256032" algn="l">
              <a:spcAft>
                <a:spcPts val="9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Replay: every stored file injected digitally was blocked (DTW 0.00 &lt; 1.0). Replayed or stale recordings passed the challenge 0/18; a spliced answer (distance 0.01) was caught.</a:t>
            </a:r>
          </a:p>
          <a:p>
            <a:pPr marL="256032" indent="-256032" algn="l">
              <a:spcAft>
                <a:spcPts val="9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Full transaction sweep (challenge included): 30 of 32 students verified end-to-end; demo 7/7.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5.3 Investigations (PO(d))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33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Which modification produced which gain (ablation, one change at a time)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400" cy="3867912"/>
        </p:xfrm>
        <a:graphic>
          <a:graphicData uri="http://schemas.openxmlformats.org/drawingml/2006/table">
            <a:tbl>
              <a:tblPr firstRow="0" bandRow="0"/>
              <a:tblGrid>
                <a:gridCol w="4572000"/>
                <a:gridCol w="1828800"/>
                <a:gridCol w="1828800"/>
                <a:gridCol w="18288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Configuration (same features, same trials)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Genuine accepted (LOTO)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Genuine accepted (cross-mic)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Unknown speaker accepted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Words only: ID and name must agree (v4.1.4 rule)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95.7 %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65.2 %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13.7 %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Words only: fused P_id + P_name, gates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97.4 %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78.3 %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6.0 %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Voice only: GMM-UBM, V ≥ 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97.4 %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78.3 %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100.0 %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Agreement rule + voice gate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95.7 %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65.2 %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6.0 %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Deployed: fused words + voice + imposter check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97.4 %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78.3 %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0.0 %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Rejected variant: CMS-only voice features (no variance norm.)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97.4 %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60.9 %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Rejected variant: 20 cepstra instead of 12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96.6 %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52.2 %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Rejected variant: 32 mixtures instead of 64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96.6 %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65.2 %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9848" y="5788152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Python mirror, identical trials (v1.0 decision rules). Voice alone accepts every stranger, words alone let 6 % through; only the fusion reaches 0 %. The last rows are variants we tried and rejected.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5.3 Investigations (PO(d))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34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Field log: 2206141 ranked first but was refused — diagnosis and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5029200" cy="3008376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234440"/>
                <a:gridCol w="123444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v4.1.4 counter log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Try 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Try 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ID phrase best match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2206157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Name phrase best match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2206141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Name lead (runner-up ÷ best)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1.209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1.194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4E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Required fixed margin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1.212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1.212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Joint margin for 2206141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1.13×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1.09×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v4.1.4 decision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REFUSED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8B0000"/>
                          </a:solidFill>
                          <a:latin typeface="Arial"/>
                        </a:rPr>
                        <a:t>REFUSED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9848" y="4937760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ID phrase is a near-tie for everyone, so its top-1 is random and vetoed the correct name.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name ranked the right student first, only 0.3 % and 1.5 % short of a fixed margin.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81928" y="1783080"/>
          <a:ext cx="4846319" cy="2578608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822959"/>
                <a:gridCol w="914400"/>
                <a:gridCol w="73152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Option (enrol take 1)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GAR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FAR unknown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Mimic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v1.0 rules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91.8 %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0.08 %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A: lower P_name 0.07 → 0.05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91.8 %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8B0000"/>
                          </a:solidFill>
                          <a:latin typeface="Arial"/>
                        </a:rPr>
                        <a:t>3.4 %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0.08 %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B: P_id veto −0.10 → −0.15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92.9 %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0.08 %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C: clear-winner rule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94.1 %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0.25 %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v1.1 deployed = B + 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95.3 %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0.9 %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0.25 %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81928" y="44074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050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Enrol take 1 only; with all takes enrolled, A admits 2.6 % of unknown speakers, the others 0 %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4892040"/>
            <a:ext cx="4846320" cy="132588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946903"/>
            <a:ext cx="4517136" cy="12161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Applied: v1.1 engine (B + C) and, for the old v4.1.4 matcher, a relative "clear winner" rescue: name rank 1 with lead ≥ 1.12, joint margin ≥ 1.08, ID within 12 % of the best, voice in the top 3 — and every legacy accept must now pass the GMM-UBM voice veto.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5.3 Investigations (PO(d))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35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9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Field log: 2206147 said 2206150's roll number and name — and got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4663440" cy="3438144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56032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v4.1.4 counter log (old matcher)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Joint rank 1 / rank 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2206150  1.13  /  2206163  1.21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Lead of rank 1 (ratio)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1.07×  (weak)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ID phrase best match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2206158  (2206150 only rank 3)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ID distance / fixed limit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32.15 / 31.35  (above)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Name distance / fixed limit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35.56 / 30.35  (above)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Voice check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8-mixture GMM from one take: did not stop it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0000"/>
                          </a:solidFill>
                          <a:latin typeface="Arial"/>
                        </a:rPr>
                        <a:t>VERIFIED 2206150 — meal served to an 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9848" y="534924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The old matcher only compares the WORDS. Anyone who says the right roll number and name sounds like the owner to it.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916168" y="1783080"/>
          <a:ext cx="5212079" cy="2286000"/>
        </p:xfrm>
        <a:graphic>
          <a:graphicData uri="http://schemas.openxmlformats.org/drawingml/2006/table">
            <a:tbl>
              <a:tblPr firstRow="0" bandRow="0"/>
              <a:tblGrid>
                <a:gridCol w="1874519"/>
                <a:gridCol w="960120"/>
                <a:gridCol w="1234440"/>
                <a:gridCol w="1143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2206147's held-out takes, words forced to 2206150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V(2206150)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Best voice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take 1 (database mic)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−0.82 (#28)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2206147  +1.36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  <a:latin typeface="Arial"/>
                        </a:rPr>
                        <a:t>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take 2 (database mic)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−0.85 (#28)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2206147  +1.40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  <a:latin typeface="Arial"/>
                        </a:rPr>
                        <a:t>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take 3 (database mic)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−0.84 (#28)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2206147  +1.47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  <a:latin typeface="Arial"/>
                        </a:rPr>
                        <a:t>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Arial"/>
                        </a:rPr>
                        <a:t>take 4 (laptop mic)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−0.46 (#16)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Arial"/>
                        </a:rPr>
                        <a:t>2206147  +0.26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7D32"/>
                          </a:solidFill>
                          <a:latin typeface="Arial"/>
                        </a:rPr>
                        <a:t>IMPOSTER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916168" y="4251960"/>
            <a:ext cx="5212080" cy="196596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4306824"/>
            <a:ext cx="4882896" cy="18562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5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4343400"/>
            <a:ext cx="4892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8B0000"/>
              </a:buClr>
              <a:buSzPct val="110000"/>
              <a:buFont typeface="Arial"/>
              <a:buChar char="▪"/>
            </a:pPr>
            <a:r>
              <a:rPr sz="1250" b="1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v4.1.4_claude engine: </a:t>
            </a:r>
            <a:r>
              <a:rPr sz="125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refuses and names "likely imposter = 2206147" in 4 / 4 takes (voice gap ≥ 0.72 ≫ 0.15).</a:t>
            </a:r>
          </a:p>
          <a:p>
            <a:pPr marL="256032" indent="-256032" algn="l">
              <a:spcAft>
                <a:spcPts val="400"/>
              </a:spcAft>
              <a:buClr>
                <a:srgbClr val="8B0000"/>
              </a:buClr>
              <a:buSzPct val="110000"/>
              <a:buFont typeface="Arial"/>
              <a:buChar char="▪"/>
            </a:pPr>
            <a:r>
              <a:rPr sz="1250" b="1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Legacy matcher in v4.1.4_claude: </a:t>
            </a:r>
            <a:r>
              <a:rPr sz="125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now vetoed by the same GMM-UBM voice check (vsd_voice_veto.m) before any meal is served.</a:t>
            </a:r>
          </a:p>
          <a:p>
            <a:pPr marL="256032" indent="-256032" algn="l">
              <a:spcAft>
                <a:spcPts val="400"/>
              </a:spcAft>
              <a:buClr>
                <a:srgbClr val="8B0000"/>
              </a:buClr>
              <a:buSzPct val="110000"/>
              <a:buFont typeface="Arial"/>
              <a:buChar char="▪"/>
            </a:pPr>
            <a:r>
              <a:rPr sz="1250" b="1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Corpus-wide: </a:t>
            </a:r>
            <a:r>
              <a:rPr sz="125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0.22 % of perfect-words imposters accepted; the real speaker named in 97.4 %.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5.3 Investigations (PO(d))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36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Interpretation of the improvements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400" cy="409651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4206240"/>
                <a:gridCol w="310896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Observed improvement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Cause (theory)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2206147 and others accepted on the laptop mic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CMVN removes log|H(ω)|; all takes enrolled; the cohort ratio cancels the common distance shift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Other-mic acceptance 7.4 % → 85.2 % (take 1), 92.9 % (26/28) (all takes)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No more "ID and name disagree" refusals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The ID phrase has half weight and a −0.15 veto instead of top-1 agreement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Live ID margin median 1.02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Clear winners accepted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A large rank-1 lead is strong evidence even if the voice is only rank 2–3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Take-1 GAR 91.8 % → 95.3 %, FAR unchanged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Unknown speakers refused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Voice gate V ≥ 0 / top rank: a stranger is never the best voice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FAR 15.4 % (seniors) → 0.0 %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Imposter named, not only refused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Independent X (words) vs Y (voice) with a gap test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97.4 % of mimic trials named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62626"/>
                          </a:solidFill>
                          <a:latin typeface="Arial"/>
                        </a:rPr>
                        <a:t>Recordings refused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Digits unknown in advance; digital copies have DTW ≈ 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62626"/>
                          </a:solidFill>
                          <a:latin typeface="Arial"/>
                        </a:rPr>
                        <a:t>Replay 0 %, stale code 0 %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5.4 Limitations of Tools (PO(e))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37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100584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10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corpus has 32 speakers and 3–15 takes each; only 28 genuine test pairs were recorded on non-database microphones, so cross-mic rates carry wide confidence intervals (±10–15 %).</a:t>
            </a:r>
          </a:p>
          <a:p>
            <a:pPr marL="256032" indent="-256032" algn="l">
              <a:spcAft>
                <a:spcPts val="10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labelled corpus of real loudspeaker replays exists, so the sub-200 Hz cue could not be calibrated; replay tests used simulated phone playback.</a:t>
            </a:r>
          </a:p>
          <a:p>
            <a:pPr marL="256032" indent="-256032" algn="l">
              <a:spcAft>
                <a:spcPts val="10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8 kHz sampling limits the band to 4 kHz: high-band replay artefacts (e.g. CQCC cues above 4 kHz) are not observable.</a:t>
            </a:r>
          </a:p>
          <a:p>
            <a:pPr marL="256032" indent="-256032" algn="l">
              <a:spcAft>
                <a:spcPts val="10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MATLAB and Octave resample() use different anti-alias filters (feature difference ≈ 0.005); thresholds were checked in both.</a:t>
            </a:r>
          </a:p>
          <a:p>
            <a:pPr marL="256032" indent="-256032" algn="l">
              <a:spcAft>
                <a:spcPts val="10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Audio devices report no calibration, so only relative (normalised) quantities can be trusted.</a:t>
            </a:r>
          </a:p>
          <a:p>
            <a:pPr marL="256032" indent="-256032" algn="l">
              <a:spcAft>
                <a:spcPts val="10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DTW is O(N·M) per template and grows with the roster: 32 students × ~5 takes × 2 phrases ≈ 300 alignments per transaction.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5.4 Limitations of Tools (PO(e))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38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1097280"/>
            <a:ext cx="996696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Limitations of the current system and how they are handled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572768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9848" y="1783080"/>
          <a:ext cx="10058400" cy="4279392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2926080"/>
                <a:gridCol w="420624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Measured effect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Mitigation in v4.1.4_claude / next step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Enrolled on one microphone, tested on another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90.0 % genuine accepted cross-mic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Self-adaptation stores the first confident accept on a new mic; record one enrolment take per mic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Digit challenge takes time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≈3 s per student; ≈1 code in 6 needs a 2nd try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Two attempts allowed; 2206145 still failed both in the sweep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Three students have no isolated digits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2206135, 2206148, 2206149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Challenge falls back to cohort templates; record digits in the Enrol tab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Clear-winner rule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Mimic acceptance 0.08 % → 0.22 %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Accepted as the price of +3.5 points GAR; imposter check still runs first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262626"/>
                          </a:solidFill>
                          <a:latin typeface="Arial"/>
                        </a:rPr>
                        <a:t>Voice synthesis / conversion, identical twins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Not tested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262626"/>
                          </a:solidFill>
                          <a:latin typeface="Arial"/>
                        </a:rPr>
                        <a:t>Out of scope; learned countermeasure in future work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5.5 Impact Assessment (PO(f))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39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481328"/>
            <a:ext cx="3255264" cy="3611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481328"/>
            <a:ext cx="64008" cy="36118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5.5.1  Societal and cultural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048256"/>
            <a:ext cx="2926080" cy="295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Fair, fast access to meals.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Proxy dining and meal-card trading become detectable, so hall funds serve residents who paid.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6" y="1481328"/>
            <a:ext cx="3255264" cy="3611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481328"/>
            <a:ext cx="64008" cy="36118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5.5.2  Health and safety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048256"/>
            <a:ext cx="2926080" cy="295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shared cards or surfaces at the counter.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Each refusal is explained aloud and on screen, so no queue forms over an unexplained "no".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3" y="1481328"/>
            <a:ext cx="3255264" cy="3611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2983" y="1481328"/>
            <a:ext cx="64008" cy="36118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5.5.3  Legal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048256"/>
            <a:ext cx="2926080" cy="2953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voiceprint is biometric personal data: informed consent, storage on the hall PC only, deletion on leaving the hall.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Admin-only, password-gated workspace.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5276088"/>
            <a:ext cx="10058400" cy="9601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39" y="5330952"/>
            <a:ext cx="9729216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8B0000"/>
                </a:solidFill>
                <a:latin typeface="Arial"/>
                <a:ea typeface="Arial"/>
                <a:cs typeface="Arial"/>
              </a:rPr>
              <a:t>Assessment: positive for fairness and hygiene; the legal risk (biometric data) is controlled by consent, local storage and admin-only access.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5.6 Sustainability Evaluation (PO(g))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40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Paper-free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Replaces printed monthly meal cards and coupons with a CSV roster.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6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No new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Runs on an existing PC and microphone; a full model rebuild takes about a minute.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3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2983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Incremental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Adding a student re-processes only the new files; the UBM is reused.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9848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Long 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Self-adaptation keeps accuracy when the hall replaces its microphone.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1416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71416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Re-usable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2584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Modular vsd_*.m code can move to other halls, libraries or exam attendance.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2983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72983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Low energy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8 kHz features: ~5.5× fewer samples than the 44.1 kHz baseline.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5.7 Ethical Issues (PO(h))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41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Informed consent for every recording; the voices are used only for this course project.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6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Data stays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Templates and logs stay on the hall PC; the log stores scores, never audio (except 3 adaptive takes per student).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3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2983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Suspicion, not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"likely imposter" is a hint for the hall office; a human decides any 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9848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Honest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Failures (2 of 32 in the sweep, cross-mic limits, the imposter cost of the clear-winner rule) and simulated replay tests are stated as such.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1416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71416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Credit to prior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2584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seniors' Hall Entry baseline and the literature in the references are acknowledged.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2983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72983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Fair peer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4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Objective, ethical evaluation of every member's contribution.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Course Outcomes and Program Outcomes (CO–PO)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42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69848" y="1481328"/>
          <a:ext cx="10058400" cy="4389120"/>
        </p:xfrm>
        <a:graphic>
          <a:graphicData uri="http://schemas.openxmlformats.org/drawingml/2006/table">
            <a:tbl>
              <a:tblPr firstRow="0" bandRow="0"/>
              <a:tblGrid>
                <a:gridCol w="640080"/>
                <a:gridCol w="3291840"/>
                <a:gridCol w="1188720"/>
                <a:gridCol w="822960"/>
                <a:gridCol w="4114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 statement (EEE 312)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Where in this project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CO1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Understand DSP algorithms and implement them in software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</a:rPr>
                        <a:t>PO(a), PO(e)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P1, P4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Resampling, spectral subtraction, windowing, MFCC, FIR Δ, DTW, GMM in MATLAB (3.2)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CO2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Compare theoretical and experimental results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</a:rPr>
                        <a:t>PO(d)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C5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CMVN channel cancellation, score distributions, before/after evaluation (3.4, 5.3)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CO3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Design filters and systems to specification; individual and team work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</a:rPr>
                        <a:t>PO(c), PO(i)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C6, A3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Front-end and fused decision tuned to GAR / FAR targets (3.2, 5.3)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CO4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Design a digital system with health, safety, societal, cultural and environmental considerations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</a:rPr>
                        <a:t>PO(c), PO(l)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P7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Touchless, proxy-proof dining with replay protection; literature review (3.1, 5.2)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CO5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Apply ethical principles; evaluate peers ethically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</a:rPr>
                        <a:t>PO(h)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Consent, biometric-data handling, honest reporting (5.7)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CO6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Work effectively as an individual and a team member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</a:rPr>
                        <a:t>PO(i)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Module ownership, joint integration and testing (6)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CO7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Report effectively: presentation, user manual, detailed report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C00000"/>
                          </a:solidFill>
                          <a:latin typeface="Arial"/>
                        </a:rPr>
                        <a:t>PO(j)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A3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This deck, project guide (PDF/HTML), README, demo video (7)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6. Reflection on Individual and Team work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43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920240"/>
            <a:ext cx="3255264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920240"/>
            <a:ext cx="3255264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2402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6.1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06324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Individual Contribution of Each Member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6" y="1920240"/>
            <a:ext cx="3255264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920240"/>
            <a:ext cx="3255264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22402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6.2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306324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Mode of TeamWork and Diversity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3" y="1920240"/>
            <a:ext cx="3255264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2983" y="1920240"/>
            <a:ext cx="3255264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22402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32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6.3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3063240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Logbook of Project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6.1 Individual Contribution of Each Member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44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69848" y="1481328"/>
          <a:ext cx="10058400" cy="283464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292608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Member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Module(s) owned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Responsibilities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Samin Zahan Khan (2206135)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Syed Ibnul Morshed (2206141)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S M Sindid Islam Mahodi (2206147)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  <a:latin typeface="Arial"/>
                        </a:rPr>
                        <a:t>Abdullah Al Rohan (2206150)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Arial"/>
                        </a:rPr>
                        <a:t>[fill in]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69848" y="4617720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7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All four members' own voices are part of the 32-speaker evaluation corpus.</a:t>
            </a:r>
          </a:p>
          <a:p>
            <a:pPr marL="256032" indent="-256032" algn="l">
              <a:spcAft>
                <a:spcPts val="7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Shared: data collection, dining rules (roster, meal windows), counter testing and documentation.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6.2 Mode of TeamWork and Diversity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45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481328"/>
            <a:ext cx="4956048" cy="3383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481328"/>
            <a:ext cx="64008" cy="3383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1591056"/>
            <a:ext cx="4626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How we worked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048256"/>
            <a:ext cx="4626864" cy="272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Weekly lab sessions for integration and live counter tests.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 owner per module; changes merged through versioned folders (v3 → v4.1.4 → v4.1.4_claude).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Evaluation scripts shared so every member could re-run the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81328"/>
            <a:ext cx="4956048" cy="3383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81328"/>
            <a:ext cx="64008" cy="3383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591056"/>
            <a:ext cx="46268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Diversity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48256"/>
            <a:ext cx="4626864" cy="272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Four members with different strengths: signal processing, statistics, GUI and testing.</a:t>
            </a:r>
          </a:p>
          <a:p>
            <a:pPr marL="256032" indent="-256032" algn="l">
              <a:spcAft>
                <a:spcPts val="400"/>
              </a:spcAft>
              <a:buClr>
                <a:srgbClr val="C00000"/>
              </a:buClr>
              <a:buSzPct val="110000"/>
              <a:buFont typeface="Arial"/>
              <a:buChar char="▪"/>
            </a:pPr>
            <a:r>
              <a:rPr sz="16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Different voices, accents and microphones in the team — the corpus itself tests the diversity the system must handle.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" y="5093208"/>
            <a:ext cx="10058400" cy="100584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39" y="5148072"/>
            <a:ext cx="9729216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40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[Add a team photo or working-session pictures here]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6.3 Logbook of Project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46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69848" y="1481328"/>
          <a:ext cx="10058400" cy="3968496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2103120"/>
                <a:gridCol w="63093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Version / milestone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was done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24 Jul 2026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Revised proposal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Seniors' Hall Entry baseline studied; five modifications proposed (Exp. 1–4 + business logic)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After proposal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v3 → v4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Spoken 7-digit ID as the key, name as fallback, 0.5 s ambient profile, 3-2-1 countdown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Before 27 Sep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v4.1 – v4.1.3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Instant Stop, rollback, discard profile, meal-log reset, similarity display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27–28 Sep 2026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v4.1.4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Admin meal hours, monthly roster; corpus experiments and security checks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30 Sep 2026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v4.1.4_claude 1.0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Root-cause analysis of live refusals; VSD engine, imposter ID, anti-replay; full evaluation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  <a:latin typeface="Arial"/>
                        </a:rPr>
                        <a:t>30 Sep 2026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v4.1.4_claude 1.1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  <a:latin typeface="Arial"/>
                        </a:rPr>
                        <a:t>Field-log diagnosis; clear-winner ranking rule and relaxed ID veto; re-validation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69848" y="559612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250" b="0" i="1">
                <a:solidFill>
                  <a:srgbClr val="7F7F7F"/>
                </a:solidFill>
                <a:latin typeface="Arial"/>
                <a:ea typeface="Arial"/>
                <a:cs typeface="Arial"/>
              </a:rPr>
              <a:t>Add the exact dates of the v3–v4.1.3 rows from the lab logbook.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7 Communication to External Stakeholders (PO(j))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47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481328"/>
            <a:ext cx="4956048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481328"/>
            <a:ext cx="64008" cy="1143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59105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GitHub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02996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[add repository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81328"/>
            <a:ext cx="4956048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81328"/>
            <a:ext cx="64008" cy="1143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9105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YouTube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2996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[add video URL]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2834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Video title: Voice-Based Meal Verification System for Hall Dining | C1.07 | EEE 312 (2026) Final Project | Dept of EEE, BUET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3474720"/>
            <a:ext cx="3255264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" y="3474720"/>
            <a:ext cx="64008" cy="21031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1016" y="358444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Project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4041648"/>
            <a:ext cx="2926080" cy="1444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Full HTML / PDF guide: theory, maths, diagrams, code, outputs, viva questions.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71416" y="3474720"/>
            <a:ext cx="3255264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71416" y="3474720"/>
            <a:ext cx="64008" cy="21031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58444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User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4041648"/>
            <a:ext cx="2926080" cy="1444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README + RUN_ME modes: gui, demo, evaluate, rebuild.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72983" y="3474720"/>
            <a:ext cx="3255264" cy="2103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72983" y="3474720"/>
            <a:ext cx="64008" cy="21031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358444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7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4041648"/>
            <a:ext cx="2926080" cy="14447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Counter GUI with the 6-gate security table and IMPOSTER / REPLAY banners.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8. Project Management and Cost Analysis (PO(k))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48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2206135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69848" y="1481328"/>
          <a:ext cx="6035040" cy="352044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2377440"/>
                <a:gridCol w="14630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Bill of materials (prototype)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MATLAB (+ GNU Octave)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DSP, GUI, evaluation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University licence / free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Laptop / hall PC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Processing, counter kiosk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Microphones (laptop + USB)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Enrolment, cross-mic tests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Smartphone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Replay experiments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Per-unit cost of prototype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No new purchase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BEAE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Arial"/>
                        </a:rPr>
                        <a:t>Mass-produced unit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Mini-PC or single-board computer + USB mic + small display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</a:rPr>
                        <a:t>[fill in local prices]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33488" y="1481328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Timeline of project implementation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7333488" y="1984248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9842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1984248"/>
            <a:ext cx="31089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98424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Proposal and seniors' baseline study</a:t>
            </a:r>
          </a:p>
        </p:txBody>
      </p:sp>
      <p:sp>
        <p:nvSpPr>
          <p:cNvPr id="14" name="Oval 13"/>
          <p:cNvSpPr/>
          <p:nvPr/>
        </p:nvSpPr>
        <p:spPr>
          <a:xfrm>
            <a:off x="7333488" y="2825496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28254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2825496"/>
            <a:ext cx="31089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825496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DSP modules + GUI (v4.x)</a:t>
            </a:r>
          </a:p>
        </p:txBody>
      </p:sp>
      <p:sp>
        <p:nvSpPr>
          <p:cNvPr id="18" name="Oval 17"/>
          <p:cNvSpPr/>
          <p:nvPr/>
        </p:nvSpPr>
        <p:spPr>
          <a:xfrm>
            <a:off x="7333488" y="3666744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366674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3666744"/>
            <a:ext cx="31089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366674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Roster and meal logic</a:t>
            </a:r>
          </a:p>
        </p:txBody>
      </p:sp>
      <p:sp>
        <p:nvSpPr>
          <p:cNvPr id="22" name="Oval 21"/>
          <p:cNvSpPr/>
          <p:nvPr/>
        </p:nvSpPr>
        <p:spPr>
          <a:xfrm>
            <a:off x="7333488" y="4507992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450799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9288" y="4507992"/>
            <a:ext cx="31089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450799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Corpus evaluation, root causes</a:t>
            </a:r>
          </a:p>
        </p:txBody>
      </p:sp>
      <p:sp>
        <p:nvSpPr>
          <p:cNvPr id="26" name="Oval 25"/>
          <p:cNvSpPr/>
          <p:nvPr/>
        </p:nvSpPr>
        <p:spPr>
          <a:xfrm>
            <a:off x="7333488" y="5349240"/>
            <a:ext cx="566928" cy="56692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53492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9288" y="5349240"/>
            <a:ext cx="31089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534924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50" b="0" i="0">
                <a:solidFill>
                  <a:srgbClr val="262626"/>
                </a:solidFill>
                <a:latin typeface="Arial"/>
                <a:ea typeface="Arial"/>
                <a:cs typeface="Arial"/>
              </a:rPr>
              <a:t>VSD engine v1.0 → v1.1, guide, slides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9. Future Work (PO(l))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49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Enrolment on the hall 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Record 1–2 takes per student on the actual counter microphone, and the digits for 2206135, 2206148, 2206149.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416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Learned replay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Collect a labelled replay corpus (phones, Bluetooth speakers) and train CQCC/LFCC-GMM so the sub-200 Hz advisory becomes a gate.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72983" y="1481328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72983" y="1481328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59105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Larger halls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2048256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i-vector / x-vector embeddings and voice-based pre-selection before DTW for hundreds of residents.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69848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Score calibration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Per-microphone Z/T-norm and an adaptive threshold that tracks the counter's noise level.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1416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71416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Kiosk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2584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Single-board computer with a USB mic; link the roster to the hall office's payment records.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2983" y="3877056"/>
            <a:ext cx="3255264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72983" y="3877056"/>
            <a:ext cx="64008" cy="2240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39867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Better 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4443984"/>
            <a:ext cx="2926080" cy="1581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sz="13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Spoken prompts in Bangla, shorter challenge for low-risk hours, dashboard for the hall office.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10. References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50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481328"/>
            <a:ext cx="10058400" cy="480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[1] S. Davis and P. Mermelstein, "Comparison of parametric representations for monosyllabic word recognition," IEEE Trans. ASSP, 28(4), 1980.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[2] H. Sakoe and S. Chiba, "Dynamic programming algorithm optimization for spoken word recognition," IEEE Trans. ASSP, 26(1), 1978.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[3] S. Furui, "Cepstral analysis technique for automatic speaker verification," IEEE Trans. ASSP, 29(2), 1981.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[4] D. A. Reynolds, T. F. Quatieri and R. B. Dunn, "Speaker verification using adapted Gaussian mixture models," Digital Signal Processing, 10, 2000.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[5] A. E. Rosenberg et al., "The use of cohort normalized scores for speaker verification," Proc. ICSLP, 1992.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[6] T. Matsui and S. Furui, "Concatenated phoneme models for text-variable speaker recognition," Proc. ICASSP, 1993.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[7] Z. Wu et al., "ASVspoof: the automatic speaker verification spoofing and countermeasures challenge," IEEE JSTSP, 11(4), 2017.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[8] S. Boll, "Suppression of acoustic noise in speech using spectral subtraction," IEEE Trans. ASSP, 27(2), 1979.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[9] A. V. Oppenheim, R. W. Schafer and J. R. Buck, Discrete-Time Signal Processing, 3rd ed., Pearson, 2009.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[10] J. G. Proakis and D. G. Manolakis, Digital Signal Processing: Principles, Algorithms, and Applications, 5th ed., 2022.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[11] Seniors' baseline: "Hall Entry" voice attendance project (VQ-LBG), EEE 312, BUET.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sz="13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[12] EEE 312 course outline, Department of EEE, BUET: https://eee.buet.ac.bd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Thank You</a:t>
            </a:r>
          </a:p>
        </p:txBody>
      </p:sp>
      <p:sp>
        <p:nvSpPr>
          <p:cNvPr id="3" name="Date Placeholder 5">
            <a:extLst>
              <a:ext uri="{FF2B5EF4-FFF2-40B4-BE49-F238E27FC236}">
                <a16:creationId xmlns:a16="http://schemas.microsoft.com/office/drawing/2014/main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069080" cy="356363"/>
          </a:xfrm>
        </p:spPr>
        <p:txBody>
          <a:bodyPr/>
          <a:lstStyle/>
          <a:p>
            <a:r>
              <a:rPr lang="en-US"/>
              <a:t>EEE 312 (2026) – Final Project Group 07 (C1)</a:t>
            </a:r>
            <a:endParaRPr lang="en-BD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80" y="6482588"/>
            <a:ext cx="4892040" cy="375412"/>
          </a:xfrm>
        </p:spPr>
        <p:txBody>
          <a:bodyPr/>
          <a:lstStyle/>
          <a:p>
            <a:r>
              <a:rPr lang="en-BD" dirty="0"/>
              <a:t>Voice-Based Meal Verification System for Hall Dining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en-BD" smtClean="0"/>
              <a:t>51</a:t>
            </a:fld>
            <a:endParaRPr lang="en-BD"/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2206150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1288" y="1243584"/>
            <a:ext cx="1005840" cy="411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1945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4800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429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2000" b="0" i="0">
                <a:solidFill>
                  <a:srgbClr val="595959"/>
                </a:solidFill>
                <a:latin typeface="Consolas"/>
                <a:ea typeface="Consolas"/>
                <a:cs typeface="Consolas"/>
              </a:rPr>
              <a:t>Live demo:  RUN_ME   ·   RUN_ME('demo')   ·   RUN_ME('evaluate')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4BCAD1D7C2C948B7054E6251673439" ma:contentTypeVersion="1" ma:contentTypeDescription="Create a new document." ma:contentTypeScope="" ma:versionID="afa1d648aecea6078b75537807028c75">
  <xsd:schema xmlns:xsd="http://www.w3.org/2001/XMLSchema" xmlns:xs="http://www.w3.org/2001/XMLSchema" xmlns:p="http://schemas.microsoft.com/office/2006/metadata/properties" xmlns:ns2="17121d01-262a-4cb9-861a-5641b2484800" targetNamespace="http://schemas.microsoft.com/office/2006/metadata/properties" ma:root="true" ma:fieldsID="961b544e7d63d90275106e87ca047948" ns2:_="">
    <xsd:import namespace="17121d01-262a-4cb9-861a-5641b2484800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121d01-262a-4cb9-861a-5641b248480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7121d01-262a-4cb9-861a-5641b2484800" xsi:nil="true"/>
  </documentManagement>
</p:properties>
</file>

<file path=customXml/itemProps1.xml><?xml version="1.0" encoding="utf-8"?>
<ds:datastoreItem xmlns:ds="http://schemas.openxmlformats.org/officeDocument/2006/customXml" ds:itemID="{E9AE6B78-CFB9-42A6-A2E7-2DC5B0B11C6B}"/>
</file>

<file path=customXml/itemProps2.xml><?xml version="1.0" encoding="utf-8"?>
<ds:datastoreItem xmlns:ds="http://schemas.openxmlformats.org/officeDocument/2006/customXml" ds:itemID="{F3F50658-52D4-40C0-BE05-4937525779C7}"/>
</file>

<file path=customXml/itemProps3.xml><?xml version="1.0" encoding="utf-8"?>
<ds:datastoreItem xmlns:ds="http://schemas.openxmlformats.org/officeDocument/2006/customXml" ds:itemID="{0CD65A58-29C1-418A-BE09-5E763A297FC3}"/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160</TotalTime>
  <Words>2934</Words>
  <Application>Microsoft Office PowerPoint</Application>
  <PresentationFormat>Widescreen</PresentationFormat>
  <Paragraphs>275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Black</vt:lpstr>
      <vt:lpstr>Arial Narrow</vt:lpstr>
      <vt:lpstr>Calibri</vt:lpstr>
      <vt:lpstr>Century Gothic</vt:lpstr>
      <vt:lpstr>Garamond</vt:lpstr>
      <vt:lpstr>Times New Roman</vt:lpstr>
      <vt:lpstr>Savon</vt:lpstr>
      <vt:lpstr>Title of Project</vt:lpstr>
      <vt:lpstr>Outline</vt:lpstr>
      <vt:lpstr>1. Summary / Abstract</vt:lpstr>
      <vt:lpstr>2. Introduction</vt:lpstr>
      <vt:lpstr>3.1 Design: Problem Formulation (PO(b))</vt:lpstr>
      <vt:lpstr>3.1 Design: Problem Formulation (PO(b))</vt:lpstr>
      <vt:lpstr>3.1 Design: Problem Formulation (PO(b))</vt:lpstr>
      <vt:lpstr>3.1 Design: Problem Formulation (PO(b))</vt:lpstr>
      <vt:lpstr>3.2 Design Methods (PO(a))</vt:lpstr>
      <vt:lpstr>3.3 Design: Circuit Diagram</vt:lpstr>
      <vt:lpstr>3.4 Design: Simulation</vt:lpstr>
      <vt:lpstr>3.5 CAD/Hardware Design</vt:lpstr>
      <vt:lpstr>3.5 CAD/Hardware Design</vt:lpstr>
      <vt:lpstr>3.6 Design: PCB Layout and 3d rendering</vt:lpstr>
      <vt:lpstr>4 Implementation: Demonstration</vt:lpstr>
      <vt:lpstr>4.1 Implementation: Photo Gallary</vt:lpstr>
      <vt:lpstr>5. Design Analysis and Evaluation</vt:lpstr>
      <vt:lpstr>5.1 Novelty</vt:lpstr>
      <vt:lpstr>5.2 Design Considerations (PO(c))</vt:lpstr>
      <vt:lpstr>5.3 Investigations (PO(d))</vt:lpstr>
      <vt:lpstr>5.4 Limitations of Tools (PO(e))</vt:lpstr>
      <vt:lpstr>5.5 Impact Assessment (PO(f))</vt:lpstr>
      <vt:lpstr>5.6 Sustainability Evaluation (PO(g))</vt:lpstr>
      <vt:lpstr>5.7 Sustainability Evaluation (PO(g))</vt:lpstr>
      <vt:lpstr>6. Reflection on Individual and Team work </vt:lpstr>
      <vt:lpstr>6.1 Individual Contribution of Each Member</vt:lpstr>
      <vt:lpstr>6.2 Mode of TeamWork and Diversity</vt:lpstr>
      <vt:lpstr>6.3 Logbook of Project</vt:lpstr>
      <vt:lpstr>7 Communication to External Stakeholders (PO(j))</vt:lpstr>
      <vt:lpstr>8. Project Management and Cost Analysis (PO(k))</vt:lpstr>
      <vt:lpstr>9. Future Work (PO(l))</vt:lpstr>
      <vt:lpstr>10.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Dr. Sajid Muhaimin Choudhury</cp:lastModifiedBy>
  <cp:revision>35</cp:revision>
  <cp:lastPrinted>2023-06-08T10:53:35Z</cp:lastPrinted>
  <dcterms:created xsi:type="dcterms:W3CDTF">2021-07-11T09:27:00Z</dcterms:created>
  <dcterms:modified xsi:type="dcterms:W3CDTF">2023-06-12T14:15:58Z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0x010100694BCAD1D7C2C948B7054E6251673439</vt:lpwstr>
  </property>
</Properties>
</file>